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051e443aed4742" /><Relationship Type="http://schemas.openxmlformats.org/officeDocument/2006/relationships/extended-properties" Target="/docProps/app.xml" Id="Rc8e48841ddc94c85" /><Relationship Type="http://schemas.openxmlformats.org/officeDocument/2006/relationships/officeDocument" Target="/ppt/presentation.xml" Id="Rc56b057a26524ee7" /></Relationships>
</file>

<file path=ppt/presentation.xml><?xml version="1.0" encoding="utf-8"?>
<p:presentation xmlns:p="http://schemas.openxmlformats.org/presentationml/2006/main">
  <p:sldMasterIdLst>
    <p:sldMasterId xmlns:r="http://schemas.openxmlformats.org/officeDocument/2006/relationships" id="2147483648" r:id="R1333b605dc084c8c"/>
  </p:sldMasterIdLst>
  <p:notesMasterIdLst>
    <p:notesMasterId xmlns:r="http://schemas.openxmlformats.org/officeDocument/2006/relationships" r:id="Rf47c86649fd64dff"/>
  </p:notesMasterIdLst>
  <p:sldIdLst>
    <p:sldId xmlns:r="http://schemas.openxmlformats.org/officeDocument/2006/relationships" id="256" r:id="R4b0c37e0c3124bcd"/>
    <p:sldId xmlns:r="http://schemas.openxmlformats.org/officeDocument/2006/relationships" id="257" r:id="R4bd016e7aa824956"/>
    <p:sldId xmlns:r="http://schemas.openxmlformats.org/officeDocument/2006/relationships" id="258" r:id="Rf4144bfbc3e54334"/>
    <p:sldId xmlns:r="http://schemas.openxmlformats.org/officeDocument/2006/relationships" id="259" r:id="R68dddbc12bf54cae"/>
    <p:sldId xmlns:r="http://schemas.openxmlformats.org/officeDocument/2006/relationships" id="260" r:id="R89c6dbbdbe9c42cc"/>
    <p:sldId xmlns:r="http://schemas.openxmlformats.org/officeDocument/2006/relationships" id="261" r:id="Rbfd6017499ac4cfc"/>
    <p:sldId xmlns:r="http://schemas.openxmlformats.org/officeDocument/2006/relationships" id="262" r:id="R712a7ac224494d2b"/>
    <p:sldId xmlns:r="http://schemas.openxmlformats.org/officeDocument/2006/relationships" id="263" r:id="R24b6b4b84cdc4f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575c36db9744a1" /><Relationship Type="http://schemas.openxmlformats.org/officeDocument/2006/relationships/slideMaster" Target="/ppt/slideMasters/slideMaster1.xml" Id="R1333b605dc084c8c" /><Relationship Type="http://schemas.openxmlformats.org/officeDocument/2006/relationships/notesMaster" Target="/ppt/notesMasters/notesMaster1.xml" Id="Rf47c86649fd64dff" /><Relationship Type="http://schemas.openxmlformats.org/officeDocument/2006/relationships/presProps" Target="/ppt/presProps.xml" Id="R224fd9e2878a465b" /><Relationship Type="http://schemas.openxmlformats.org/officeDocument/2006/relationships/tableStyles" Target="/ppt/tableStyles.xml" Id="R88be2bf5033b4b2d" /><Relationship Type="http://schemas.openxmlformats.org/officeDocument/2006/relationships/slide" Target="/ppt/slides/slide1.xml" Id="R4b0c37e0c3124bcd" /><Relationship Type="http://schemas.openxmlformats.org/officeDocument/2006/relationships/slide" Target="/ppt/slides/slide2.xml" Id="R4bd016e7aa824956" /><Relationship Type="http://schemas.openxmlformats.org/officeDocument/2006/relationships/slide" Target="/ppt/slides/slide3.xml" Id="Rf4144bfbc3e54334" /><Relationship Type="http://schemas.openxmlformats.org/officeDocument/2006/relationships/slide" Target="/ppt/slides/slide4.xml" Id="R68dddbc12bf54cae" /><Relationship Type="http://schemas.openxmlformats.org/officeDocument/2006/relationships/slide" Target="/ppt/slides/slide5.xml" Id="R89c6dbbdbe9c42cc" /><Relationship Type="http://schemas.openxmlformats.org/officeDocument/2006/relationships/slide" Target="/ppt/slides/slide6.xml" Id="Rbfd6017499ac4cfc" /><Relationship Type="http://schemas.openxmlformats.org/officeDocument/2006/relationships/slide" Target="/ppt/slides/slide7.xml" Id="R712a7ac224494d2b" /><Relationship Type="http://schemas.openxmlformats.org/officeDocument/2006/relationships/slide" Target="/ppt/slides/slide8.xml" Id="R24b6b4b84cdc4f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31e99427394e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472e8ef8ee4e0e" /><Relationship Type="http://schemas.openxmlformats.org/officeDocument/2006/relationships/notesMaster" Target="/ppt/notesMasters/notesMaster1.xml" Id="Rae06b18d99fc42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8283c7a8cb4fad" /><Relationship Type="http://schemas.openxmlformats.org/officeDocument/2006/relationships/notesMaster" Target="/ppt/notesMasters/notesMaster1.xml" Id="R1b57b53ac6e740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aa9616338b4801" /><Relationship Type="http://schemas.openxmlformats.org/officeDocument/2006/relationships/notesMaster" Target="/ppt/notesMasters/notesMaster1.xml" Id="R36f246175d2648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800ceaaeb04070" /><Relationship Type="http://schemas.openxmlformats.org/officeDocument/2006/relationships/notesMaster" Target="/ppt/notesMasters/notesMaster1.xml" Id="R5932597e0a444b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a50342a0a2425d" /><Relationship Type="http://schemas.openxmlformats.org/officeDocument/2006/relationships/notesMaster" Target="/ppt/notesMasters/notesMaster1.xml" Id="R1bf23273d5374b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052decd73a4592" /><Relationship Type="http://schemas.openxmlformats.org/officeDocument/2006/relationships/notesMaster" Target="/ppt/notesMasters/notesMaster1.xml" Id="R3d9367df06b047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4eb26c210040bb" /><Relationship Type="http://schemas.openxmlformats.org/officeDocument/2006/relationships/notesMaster" Target="/ppt/notesMasters/notesMaster1.xml" Id="Re10f15245e0d49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7e889a99e34f06" /><Relationship Type="http://schemas.openxmlformats.org/officeDocument/2006/relationships/notesMaster" Target="/ppt/notesMasters/notesMaster1.xml" Id="R4cd803bc994d45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is a local webcam experiment for the part of shopping that happens before checkout. I built it to explore whether broad shelf gaze estimates can give retailers useful evidence about browsing.</a:t>
            </a:r>
          </a:p>
          <a:p xmlns:a="http://schemas.openxmlformats.org/drawingml/2006/main">
            <a:r>
              <a:t/>
            </a:r>
          </a:p>
          <a:p xmlns:a="http://schemas.openxmlformats.org/drawingml/2006/main">
            <a:r>
              <a:t>Sources</a:t>
            </a:r>
          </a:p>
          <a:p xmlns:a="http://schemas.openxmlformats.org/drawingml/2006/main">
            <a:r>
              <a:t>https://github.com/MasteraSnackin/trace-eat-hack/blob/0229052/README.md</a:t>
            </a:r>
          </a:p>
          <a:p xmlns:a="http://schemas.openxmlformats.org/drawingml/2006/main">
            <a:r>
              <a:t>Cover: AI-generated conceptual illustration, not a photograph of an installed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receipt records what someone bought. It leaves questions about what they browsed first. Trace starts with a narrower question: which broad shelf zones receive sustained estimated gaze, and how does that pattern change?</a:t>
            </a:r>
          </a:p>
          <a:p xmlns:a="http://schemas.openxmlformats.org/drawingml/2006/main">
            <a:r>
              <a:t/>
            </a:r>
          </a:p>
          <a:p xmlns:a="http://schemas.openxmlformats.org/drawingml/2006/main">
            <a:r>
              <a:t>Sources</a:t>
            </a:r>
          </a:p>
          <a:p xmlns:a="http://schemas.openxmlformats.org/drawingml/2006/main">
            <a:r>
              <a:t>https://github.com/MasteraSnackin/trace-eat-hack/blob/0229052/README.md#description</a:t>
            </a:r>
          </a:p>
          <a:p xmlns:a="http://schemas.openxmlformats.org/drawingml/2006/main">
            <a:r>
              <a:t>https://github.com/MasteraSnackin/trace-eat-hack/blob/0229052/README.md#path-to-trend-forecasting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operator enters the shelf measurements. A webcam estimates gaze towards three zones, groups observations into temporary visits and measures dwell. Unclear observations remain unassigned. This real interface capture has the camera off and contains no shopper observations.</a:t>
            </a:r>
          </a:p>
          <a:p xmlns:a="http://schemas.openxmlformats.org/drawingml/2006/main">
            <a:r>
              <a:t/>
            </a:r>
          </a:p>
          <a:p xmlns:a="http://schemas.openxmlformats.org/drawingml/2006/main">
            <a:r>
              <a:t>Sources</a:t>
            </a:r>
          </a:p>
          <a:p xmlns:a="http://schemas.openxmlformats.org/drawingml/2006/main">
            <a:r>
              <a:t>https://github.com/MasteraSnackin/trace-eat-hack/blob/0229052/README.md#features</a:t>
            </a:r>
          </a:p>
          <a:p xmlns:a="http://schemas.openxmlformats.org/drawingml/2006/main">
            <a:r>
              <a:t>https://github.com/MasteraSnackin/trace-eat-hack/blob/0229052/README.md#current-limits</a:t>
            </a:r>
          </a:p>
          <a:p xmlns:a="http://schemas.openxmlformats.org/drawingml/2006/main">
            <a:r>
              <a:t>https://github.com/MasteraSnackin/trace-eat-hack/blob/0229052/docs/screenshots/readme-shelf-gaze-2026-10-03.jpg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Sustained estimated gaze can trigger an example offer on a separate screen. The default threshold is one and a half seconds. These captures show the real interfaces with the camera off. They demonstrate the controls, rather than physical gaze accuracy.</a:t>
            </a:r>
          </a:p>
          <a:p xmlns:a="http://schemas.openxmlformats.org/drawingml/2006/main">
            <a:r>
              <a:t/>
            </a:r>
          </a:p>
          <a:p xmlns:a="http://schemas.openxmlformats.org/drawingml/2006/main">
            <a:r>
              <a:t>Sources</a:t>
            </a:r>
          </a:p>
          <a:p xmlns:a="http://schemas.openxmlformats.org/drawingml/2006/main">
            <a:r>
              <a:t>https://github.com/MasteraSnackin/trace-eat-hack/blob/0229052/README.md#features</a:t>
            </a:r>
          </a:p>
          <a:p xmlns:a="http://schemas.openxmlformats.org/drawingml/2006/main">
            <a:r>
              <a:t>https://github.com/MasteraSnackin/trace-eat-hack/blob/0229052/README.md#customer-display</a:t>
            </a:r>
          </a:p>
          <a:p xmlns:a="http://schemas.openxmlformats.org/drawingml/2006/main">
            <a:r>
              <a:t>https://github.com/MasteraSnackin/trace-eat-hack/blob/0229052/docs/screenshots/readme-customer-idle-2026-10-03.jpg</a:t>
            </a:r>
          </a:p>
          <a:p xmlns:a="http://schemas.openxmlformats.org/drawingml/2006/main">
            <a:r>
              <a:t>https://github.com/MasteraSnackin/trace-eat-hack/blob/main/docs/videos/trace-ui-walkthrough.mp4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Processing runs on the local computer. I built the service, shelf geometry, visit logic and interfaces for EAT_HACK. The pretrained Open Model Zoo models and upstream gaze demo existed beforehand and are credited in the repository.</a:t>
            </a:r>
          </a:p>
          <a:p xmlns:a="http://schemas.openxmlformats.org/drawingml/2006/main">
            <a:r>
              <a:t/>
            </a:r>
          </a:p>
          <a:p xmlns:a="http://schemas.openxmlformats.org/drawingml/2006/main">
            <a:r>
              <a:t>Sources</a:t>
            </a:r>
          </a:p>
          <a:p xmlns:a="http://schemas.openxmlformats.org/drawingml/2006/main">
            <a:r>
              <a:t>https://github.com/MasteraSnackin/trace-eat-hack/blob/0229052/ARCHITECTURE.md</a:t>
            </a:r>
          </a:p>
          <a:p xmlns:a="http://schemas.openxmlformats.org/drawingml/2006/main">
            <a:r>
              <a:t>https://github.com/MasteraSnackin/trace-eat-hack/blob/0229052/README.md#contributing</a:t>
            </a:r>
          </a:p>
          <a:p xmlns:a="http://schemas.openxmlformats.org/drawingml/2006/main">
            <a:r>
              <a:t>https://github.com/MasteraSnackin/trace-eat-hack/blob/0229052/model-provenance.json</a:t>
            </a:r>
          </a:p>
          <a:p xmlns:a="http://schemas.openxmlformats.org/drawingml/2006/main">
            <a:r>
              <a:t>https://masterasnackin.github.io/trace-eat-hack/#focus=state-api&amp;reach=downstream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recorded software checks include 68 Python tests, 19 JavaScript tests and browser recovery scenarios. Physical shelf accuracy still needs measurement. Trace does not currently recognise products, detect purchases or identify returning customers.</a:t>
            </a:r>
          </a:p>
          <a:p xmlns:a="http://schemas.openxmlformats.org/drawingml/2006/main">
            <a:r>
              <a:t/>
            </a:r>
          </a:p>
          <a:p xmlns:a="http://schemas.openxmlformats.org/drawingml/2006/main">
            <a:r>
              <a:t>Sources</a:t>
            </a:r>
          </a:p>
          <a:p xmlns:a="http://schemas.openxmlformats.org/drawingml/2006/main">
            <a:r>
              <a:t>https://github.com/MasteraSnackin/trace-eat-hack/blob/0229052/docs/AUDIT.md#automated-and-model-verification</a:t>
            </a:r>
          </a:p>
          <a:p xmlns:a="http://schemas.openxmlformats.org/drawingml/2006/main">
            <a:r>
              <a:t>https://github.com/MasteraSnackin/trace-eat-hack/blob/0229052/docs/AUDIT.md#browser-verification</a:t>
            </a:r>
          </a:p>
          <a:p xmlns:a="http://schemas.openxmlformats.org/drawingml/2006/main">
            <a:r>
              <a:t>https://github.com/MasteraSnackin/trace-eat-hack/blob/0229052/README.md#current-limits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Forecasting is proposed work. First, validate and save comparable daily measurements. Then account for shelf changes and compare against search interest or sales. Test on later periods and keep extra signals only if they improve on a simple baseline.</a:t>
            </a:r>
          </a:p>
          <a:p xmlns:a="http://schemas.openxmlformats.org/drawingml/2006/main">
            <a:r>
              <a:t/>
            </a:r>
          </a:p>
          <a:p xmlns:a="http://schemas.openxmlformats.org/drawingml/2006/main">
            <a:r>
              <a:t>Sources</a:t>
            </a:r>
          </a:p>
          <a:p xmlns:a="http://schemas.openxmlformats.org/drawingml/2006/main">
            <a:r>
              <a:t>https://github.com/MasteraSnackin/trace-eat-hack/blob/0229052/README.md#path-to-trend-forecasting</a:t>
            </a:r>
          </a:p>
          <a:p xmlns:a="http://schemas.openxmlformats.org/drawingml/2006/main">
            <a:r>
              <a:t>https://github.com/MasteraSnackin/trace-eat-hack/blob/0229052/README.md#current-limits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is a labelled shelf trial across realistic conditions. That will tell us whether the measurements are reliable enough to use, before asking whether they improve a forecast. The code and interactive system map are public.</a:t>
            </a:r>
          </a:p>
          <a:p xmlns:a="http://schemas.openxmlformats.org/drawingml/2006/main">
            <a:r>
              <a:t/>
            </a:r>
          </a:p>
          <a:p xmlns:a="http://schemas.openxmlformats.org/drawingml/2006/main">
            <a:r>
              <a:t>Sources</a:t>
            </a:r>
          </a:p>
          <a:p xmlns:a="http://schemas.openxmlformats.org/drawingml/2006/main">
            <a:r>
              <a:t>https://github.com/MasteraSnackin/trace-eat-hack/blob/0229052/README.md#roadmap</a:t>
            </a:r>
          </a:p>
          <a:p xmlns:a="http://schemas.openxmlformats.org/drawingml/2006/main">
            <a:r>
              <a:t>https://github.com/MasteraSnackin/trace-eat-hack/blob/0229052/docs/RESEARCH.md</a:t>
            </a:r>
          </a:p>
          <a:p xmlns:a="http://schemas.openxmlformats.org/drawingml/2006/main">
            <a:r>
              <a:t>https://github.com/MasteraSnackin/trace-eat-hack</a:t>
            </a:r>
          </a:p>
          <a:p xmlns:a="http://schemas.openxmlformats.org/drawingml/2006/main">
            <a:r>
              <a:t>https://masterasnackin.github.io/trace-eat-hack/#focus=state-api&amp;reach=downstream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3256834c5b40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992b7d01674c98" /><Relationship Type="http://schemas.openxmlformats.org/officeDocument/2006/relationships/slideLayout" Target="/ppt/slideLayouts/slideLayout1.xml" Id="R5b2c814d9e4f47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2c814d9e4f47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e1020a3df442b1" /><Relationship Type="http://schemas.openxmlformats.org/officeDocument/2006/relationships/image" Target="/ppt/media/image.png" Id="Rd51753fa7abc4fa5" /><Relationship Type="http://schemas.openxmlformats.org/officeDocument/2006/relationships/notesSlide" Target="/ppt/notesSlides/notesSlide1.xml" Id="R97d7a7c1b33c4a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0e1ecb047e4912" /><Relationship Type="http://schemas.openxmlformats.org/officeDocument/2006/relationships/notesSlide" Target="/ppt/notesSlides/notesSlide2.xml" Id="R8695f70b190d46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7b39e320f7d4d89" /><Relationship Type="http://schemas.openxmlformats.org/officeDocument/2006/relationships/image" Target="/ppt/media/image.jpeg" Id="R37a60647a3be4eac" /><Relationship Type="http://schemas.openxmlformats.org/officeDocument/2006/relationships/notesSlide" Target="/ppt/notesSlides/notesSlide3.xml" Id="R64844fa6730442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0e9590a1ad4a4a" /><Relationship Type="http://schemas.openxmlformats.org/officeDocument/2006/relationships/image" Target="/ppt/media/image2.jpeg" Id="R8accdd5f1a584a40" /><Relationship Type="http://schemas.openxmlformats.org/officeDocument/2006/relationships/hyperlink" Target="https://github.com/MasteraSnackin/trace-eat-hack/blob/main/docs/videos/trace-ui-walkthrough.mp4" TargetMode="External" Id="R420be1479a764093" /><Relationship Type="http://schemas.openxmlformats.org/officeDocument/2006/relationships/notesSlide" Target="/ppt/notesSlides/notesSlide4.xml" Id="R3bdea8ce1ac34d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4d9a76781b14581" /><Relationship Type="http://schemas.openxmlformats.org/officeDocument/2006/relationships/hyperlink" Target="https://masterasnackin.github.io/trace-eat-hack/#focus=state-api&amp;reach=downstream" TargetMode="External" Id="Rb99f3ea47f114a67" /><Relationship Type="http://schemas.openxmlformats.org/officeDocument/2006/relationships/notesSlide" Target="/ppt/notesSlides/notesSlide5.xml" Id="R9fdf0f63a68d42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f84bf45ae6f43b6" /><Relationship Type="http://schemas.openxmlformats.org/officeDocument/2006/relationships/notesSlide" Target="/ppt/notesSlides/notesSlide6.xml" Id="R452b4b9695674a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4ba23bb49b24598" /><Relationship Type="http://schemas.openxmlformats.org/officeDocument/2006/relationships/notesSlide" Target="/ppt/notesSlides/notesSlide7.xml" Id="R336f0c6286414e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015fb9b3bbf46ee" /><Relationship Type="http://schemas.openxmlformats.org/officeDocument/2006/relationships/hyperlink" Target="https://github.com/MasteraSnackin/trace-eat-hack" TargetMode="External" Id="R4c2912dd516f473e" /><Relationship Type="http://schemas.openxmlformats.org/officeDocument/2006/relationships/hyperlink" Target="https://masterasnackin.github.io/trace-eat-hack/#focus=state-api&amp;reach=downstream" TargetMode="External" Id="R20218aa7c9ab4657" /><Relationship Type="http://schemas.openxmlformats.org/officeDocument/2006/relationships/notesSlide" Target="/ppt/notesSlides/notesSlide8.xml" Id="R478b7355cb7c4915" /></Relationships>
</file>

<file path=ppt/slides/slide1.xml><?xml version="1.0" encoding="utf-8"?>
<p:sld xmlns:p="http://schemas.openxmlformats.org/presentationml/2006/main">
  <p:cSld>
    <p:bg>
      <p:bgPr>
        <a:solidFill xmlns:a="http://schemas.openxmlformats.org/drawingml/2006/main">
          <a:srgbClr val="172C26"/>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d51753fa7abc4fa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A0EAEA2-5F70-4C03-9F9E-6D1FB2DC6C10}"/>
              </a:ext>
            </a:extLst>
          </p:cNvPr>
          <p:cNvSpPr>
            <a:spLocks xmlns:a="http://schemas.openxmlformats.org/drawingml/2006/main" noGrp="1"/>
          </p:cNvSpPr>
          <p:nvPr/>
        </p:nvSpPr>
        <p:spPr>
          <a:xfrm xmlns:a="http://schemas.openxmlformats.org/drawingml/2006/main">
            <a:off x="609600" y="142875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800" b="1">
                <a:solidFill>
                  <a:srgbClr val="FBFBF5"/>
                </a:solidFill>
                <a:latin typeface="Arial"/>
                <a:ea typeface="Arial"/>
                <a:cs typeface="Arial"/>
              </a:defRPr>
            </a:pPr>
            <a:r>
              <a:rPr sz="7800" b="1">
                <a:solidFill>
                  <a:srgbClr val="FBFBF5"/>
                </a:solidFill>
                <a:latin typeface="Arial"/>
                <a:ea typeface="Arial"/>
                <a:cs typeface="Arial"/>
              </a:rPr>
              <a:t>Trace</a:t>
            </a:r>
          </a:p>
        </p:txBody>
      </p:sp>
      <p:sp>
        <p:nvSpPr>
          <p:cNvPr id="3" name="">
            <a:extLst xmlns:a="http://schemas.openxmlformats.org/drawingml/2006/main">
              <a:ext uri="{FF2B5EF4-FFF2-40B4-BE49-F238E27FC236}">
                <a16:creationId xmlns:a16="http://schemas.microsoft.com/office/drawing/2014/main" id="{6EE4DD57-95B9-4B32-8E64-6A66F5EDFB47}"/>
              </a:ext>
            </a:extLst>
          </p:cNvPr>
          <p:cNvSpPr>
            <a:spLocks xmlns:a="http://schemas.openxmlformats.org/drawingml/2006/main" noGrp="1"/>
          </p:cNvSpPr>
          <p:nvPr/>
        </p:nvSpPr>
        <p:spPr>
          <a:xfrm xmlns:a="http://schemas.openxmlformats.org/drawingml/2006/main">
            <a:off x="647700" y="2819400"/>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0">
                <a:solidFill>
                  <a:srgbClr val="FBFBF5"/>
                </a:solidFill>
                <a:latin typeface="Arial"/>
                <a:ea typeface="Arial"/>
                <a:cs typeface="Arial"/>
              </a:defRPr>
            </a:pPr>
            <a:r>
              <a:rPr sz="2850" b="0">
                <a:solidFill>
                  <a:srgbClr val="FBFBF5"/>
                </a:solidFill>
                <a:latin typeface="Arial"/>
                <a:ea typeface="Arial"/>
                <a:cs typeface="Arial"/>
              </a:rPr>
              <a:t>Studying shelf browsing</a:t>
            </a:r>
          </a:p>
          <a:p xmlns:a="http://schemas.openxmlformats.org/drawingml/2006/main">
            <a:pPr>
              <a:defRPr sz="2850" b="0">
                <a:solidFill>
                  <a:srgbClr val="FBFBF5"/>
                </a:solidFill>
                <a:latin typeface="Arial"/>
                <a:ea typeface="Arial"/>
                <a:cs typeface="Arial"/>
              </a:defRPr>
            </a:pPr>
            <a:r>
              <a:rPr sz="2850" b="0">
                <a:solidFill>
                  <a:srgbClr val="FBFBF5"/>
                </a:solidFill>
                <a:latin typeface="Arial"/>
                <a:ea typeface="Arial"/>
                <a:cs typeface="Arial"/>
              </a:rPr>
              <a:t>before checkout</a:t>
            </a:r>
          </a:p>
        </p:txBody>
      </p:sp>
      <p:sp>
        <p:nvSpPr>
          <p:cNvPr id="4" name="">
            <a:extLst xmlns:a="http://schemas.openxmlformats.org/drawingml/2006/main">
              <a:ext uri="{FF2B5EF4-FFF2-40B4-BE49-F238E27FC236}">
                <a16:creationId xmlns:a16="http://schemas.microsoft.com/office/drawing/2014/main" id="{2158CD18-6C2E-42F4-A567-4F5978F0DEE3}"/>
              </a:ext>
            </a:extLst>
          </p:cNvPr>
          <p:cNvSpPr>
            <a:spLocks xmlns:a="http://schemas.openxmlformats.org/drawingml/2006/main" noGrp="1"/>
          </p:cNvSpPr>
          <p:nvPr/>
        </p:nvSpPr>
        <p:spPr>
          <a:xfrm xmlns:a="http://schemas.openxmlformats.org/drawingml/2006/main">
            <a:off x="647700" y="5048250"/>
            <a:ext cx="4857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CEDABF"/>
                </a:solidFill>
                <a:latin typeface="Arial"/>
                <a:ea typeface="Arial"/>
                <a:cs typeface="Arial"/>
              </a:defRPr>
            </a:pPr>
            <a:r>
              <a:rPr sz="1950" b="0">
                <a:solidFill>
                  <a:srgbClr val="CEDABF"/>
                </a:solidFill>
                <a:latin typeface="Arial"/>
                <a:ea typeface="Arial"/>
                <a:cs typeface="Arial"/>
              </a:rPr>
              <a:t>EAT_HACK</a:t>
            </a:r>
          </a:p>
          <a:p xmlns:a="http://schemas.openxmlformats.org/drawingml/2006/main">
            <a:pPr>
              <a:defRPr sz="1950" b="0">
                <a:solidFill>
                  <a:srgbClr val="CEDABF"/>
                </a:solidFill>
                <a:latin typeface="Arial"/>
                <a:ea typeface="Arial"/>
                <a:cs typeface="Arial"/>
              </a:defRPr>
            </a:pPr>
            <a:r>
              <a:rPr sz="1950" b="0">
                <a:solidFill>
                  <a:srgbClr val="CEDABF"/>
                </a:solidFill>
                <a:latin typeface="Arial"/>
                <a:ea typeface="Arial"/>
                <a:cs typeface="Arial"/>
              </a:rPr>
              <a:t>Retail Futures</a:t>
            </a:r>
          </a:p>
        </p:txBody>
      </p:sp>
    </p:spTree>
    <p:extLst>
      <p:ext uri="{BB962C8B-B14F-4D97-AF65-F5344CB8AC3E}">
        <p14:creationId xmlns:p14="http://schemas.microsoft.com/office/powerpoint/2010/main" val="58794896"/>
      </p:ext>
    </p:extLst>
  </p:cSld>
</p:sld>
</file>

<file path=ppt/slides/slide2.xml><?xml version="1.0" encoding="utf-8"?>
<p:sld xmlns:p="http://schemas.openxmlformats.org/presentationml/2006/main">
  <p:cSld>
    <p:bg>
      <p:bgPr>
        <a:solidFill xmlns:a="http://schemas.openxmlformats.org/drawingml/2006/main">
          <a:srgbClr val="F5F4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912927-30C9-4B1A-AD12-149E649D95EB}"/>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D2E28"/>
                </a:solidFill>
                <a:latin typeface="Arial"/>
                <a:ea typeface="Arial"/>
                <a:cs typeface="Arial"/>
              </a:defRPr>
            </a:pPr>
            <a:r>
              <a:rPr sz="3300" b="1">
                <a:solidFill>
                  <a:srgbClr val="1D2E28"/>
                </a:solidFill>
                <a:latin typeface="Arial"/>
                <a:ea typeface="Arial"/>
                <a:cs typeface="Arial"/>
              </a:rPr>
              <a:t>The gap before checkout</a:t>
            </a:r>
          </a:p>
        </p:txBody>
      </p:sp>
      <p:sp>
        <p:nvSpPr>
          <p:cNvPr id="2" name="">
            <a:extLst xmlns:a="http://schemas.openxmlformats.org/drawingml/2006/main">
              <a:ext uri="{FF2B5EF4-FFF2-40B4-BE49-F238E27FC236}">
                <a16:creationId xmlns:a16="http://schemas.microsoft.com/office/drawing/2014/main" id="{7B1765CB-F026-4E23-A750-AAD5395F753F}"/>
              </a:ext>
            </a:extLst>
          </p:cNvPr>
          <p:cNvSpPr>
            <a:spLocks xmlns:a="http://schemas.openxmlformats.org/drawingml/2006/main" noGrp="1"/>
          </p:cNvSpPr>
          <p:nvPr/>
        </p:nvSpPr>
        <p:spPr>
          <a:xfrm xmlns:a="http://schemas.openxmlformats.org/drawingml/2006/main">
            <a:off x="609600" y="1790700"/>
            <a:ext cx="53340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1D2E28"/>
                </a:solidFill>
                <a:latin typeface="Arial"/>
                <a:ea typeface="Arial"/>
                <a:cs typeface="Arial"/>
              </a:defRPr>
            </a:pPr>
            <a:r>
              <a:rPr sz="4050" b="1">
                <a:solidFill>
                  <a:srgbClr val="1D2E28"/>
                </a:solidFill>
                <a:latin typeface="Arial"/>
                <a:ea typeface="Arial"/>
                <a:cs typeface="Arial"/>
              </a:rPr>
              <a:t>Sales records show</a:t>
            </a:r>
          </a:p>
          <a:p xmlns:a="http://schemas.openxmlformats.org/drawingml/2006/main">
            <a:pPr>
              <a:defRPr sz="4050" b="1">
                <a:solidFill>
                  <a:srgbClr val="1D2E28"/>
                </a:solidFill>
                <a:latin typeface="Arial"/>
                <a:ea typeface="Arial"/>
                <a:cs typeface="Arial"/>
              </a:defRPr>
            </a:pPr>
            <a:r>
              <a:rPr sz="4050" b="1">
                <a:solidFill>
                  <a:srgbClr val="1D2E28"/>
                </a:solidFill>
                <a:latin typeface="Arial"/>
                <a:ea typeface="Arial"/>
                <a:cs typeface="Arial"/>
              </a:rPr>
              <a:t>what shoppers bought.</a:t>
            </a:r>
          </a:p>
        </p:txBody>
      </p:sp>
      <p:sp>
        <p:nvSpPr>
          <p:cNvPr id="3" name="">
            <a:extLst xmlns:a="http://schemas.openxmlformats.org/drawingml/2006/main">
              <a:ext uri="{FF2B5EF4-FFF2-40B4-BE49-F238E27FC236}">
                <a16:creationId xmlns:a16="http://schemas.microsoft.com/office/drawing/2014/main" id="{49F5A568-017D-4A8C-914C-BDC7718953F5}"/>
              </a:ext>
            </a:extLst>
          </p:cNvPr>
          <p:cNvSpPr>
            <a:spLocks xmlns:a="http://schemas.openxmlformats.org/drawingml/2006/main" noGrp="1"/>
          </p:cNvSpPr>
          <p:nvPr/>
        </p:nvSpPr>
        <p:spPr>
          <a:xfrm xmlns:a="http://schemas.openxmlformats.org/drawingml/2006/main">
            <a:off x="609600" y="3962400"/>
            <a:ext cx="5238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3F6953"/>
                </a:solidFill>
                <a:latin typeface="Arial"/>
                <a:ea typeface="Arial"/>
                <a:cs typeface="Arial"/>
              </a:defRPr>
            </a:pPr>
            <a:r>
              <a:rPr sz="4050" b="1">
                <a:solidFill>
                  <a:srgbClr val="3F6953"/>
                </a:solidFill>
                <a:latin typeface="Arial"/>
                <a:ea typeface="Arial"/>
                <a:cs typeface="Arial"/>
              </a:rPr>
              <a:t>Browsing leaves</a:t>
            </a:r>
          </a:p>
          <a:p xmlns:a="http://schemas.openxmlformats.org/drawingml/2006/main">
            <a:pPr>
              <a:defRPr sz="4050" b="1">
                <a:solidFill>
                  <a:srgbClr val="3F6953"/>
                </a:solidFill>
                <a:latin typeface="Arial"/>
                <a:ea typeface="Arial"/>
                <a:cs typeface="Arial"/>
              </a:defRPr>
            </a:pPr>
            <a:r>
              <a:rPr sz="4050" b="1">
                <a:solidFill>
                  <a:srgbClr val="3F6953"/>
                </a:solidFill>
                <a:latin typeface="Arial"/>
                <a:ea typeface="Arial"/>
                <a:cs typeface="Arial"/>
              </a:rPr>
              <a:t>questions.</a:t>
            </a:r>
          </a:p>
        </p:txBody>
      </p:sp>
      <p:sp>
        <p:nvSpPr>
          <p:cNvPr id="4" name="">
            <a:extLst xmlns:a="http://schemas.openxmlformats.org/drawingml/2006/main">
              <a:ext uri="{FF2B5EF4-FFF2-40B4-BE49-F238E27FC236}">
                <a16:creationId xmlns:a16="http://schemas.microsoft.com/office/drawing/2014/main" id="{5C224A1E-D8D9-44E9-BC71-C3D442CA5638}"/>
              </a:ext>
            </a:extLst>
          </p:cNvPr>
          <p:cNvSpPr>
            <a:spLocks xmlns:a="http://schemas.openxmlformats.org/drawingml/2006/main" noGrp="1"/>
          </p:cNvSpPr>
          <p:nvPr/>
        </p:nvSpPr>
        <p:spPr>
          <a:xfrm xmlns:a="http://schemas.openxmlformats.org/drawingml/2006/main">
            <a:off x="7029450" y="1809750"/>
            <a:ext cx="453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D2E28"/>
                </a:solidFill>
                <a:latin typeface="Arial"/>
                <a:ea typeface="Arial"/>
                <a:cs typeface="Arial"/>
              </a:defRPr>
            </a:pPr>
            <a:r>
              <a:rPr sz="2250" b="0">
                <a:solidFill>
                  <a:srgbClr val="1D2E28"/>
                </a:solidFill>
                <a:latin typeface="Arial"/>
                <a:ea typeface="Arial"/>
                <a:cs typeface="Arial"/>
              </a:rPr>
              <a:t>Which shelf areas receive</a:t>
            </a:r>
          </a:p>
          <a:p xmlns:a="http://schemas.openxmlformats.org/drawingml/2006/main">
            <a:pPr>
              <a:defRPr sz="2250" b="0">
                <a:solidFill>
                  <a:srgbClr val="1D2E28"/>
                </a:solidFill>
                <a:latin typeface="Arial"/>
                <a:ea typeface="Arial"/>
                <a:cs typeface="Arial"/>
              </a:defRPr>
            </a:pPr>
            <a:r>
              <a:rPr sz="2250" b="0">
                <a:solidFill>
                  <a:srgbClr val="1D2E28"/>
                </a:solidFill>
                <a:latin typeface="Arial"/>
                <a:ea typeface="Arial"/>
                <a:cs typeface="Arial"/>
              </a:rPr>
              <a:t>sustained estimated gaze?</a:t>
            </a:r>
          </a:p>
        </p:txBody>
      </p:sp>
      <p:sp>
        <p:nvSpPr>
          <p:cNvPr id="5" name="">
            <a:extLst xmlns:a="http://schemas.openxmlformats.org/drawingml/2006/main">
              <a:ext uri="{FF2B5EF4-FFF2-40B4-BE49-F238E27FC236}">
                <a16:creationId xmlns:a16="http://schemas.microsoft.com/office/drawing/2014/main" id="{5A77C0C8-DE2F-4C58-B922-626031A1AB9D}"/>
              </a:ext>
            </a:extLst>
          </p:cNvPr>
          <p:cNvSpPr>
            <a:spLocks xmlns:a="http://schemas.openxmlformats.org/drawingml/2006/main" noGrp="1"/>
          </p:cNvSpPr>
          <p:nvPr/>
        </p:nvSpPr>
        <p:spPr>
          <a:xfrm xmlns:a="http://schemas.openxmlformats.org/drawingml/2006/main">
            <a:off x="7029450" y="3238500"/>
            <a:ext cx="453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D2E28"/>
                </a:solidFill>
                <a:latin typeface="Arial"/>
                <a:ea typeface="Arial"/>
                <a:cs typeface="Arial"/>
              </a:defRPr>
            </a:pPr>
            <a:r>
              <a:rPr sz="2250" b="0">
                <a:solidFill>
                  <a:srgbClr val="1D2E28"/>
                </a:solidFill>
                <a:latin typeface="Arial"/>
                <a:ea typeface="Arial"/>
                <a:cs typeface="Arial"/>
              </a:rPr>
              <a:t>Does that pattern change</a:t>
            </a:r>
          </a:p>
          <a:p xmlns:a="http://schemas.openxmlformats.org/drawingml/2006/main">
            <a:pPr>
              <a:defRPr sz="2250" b="0">
                <a:solidFill>
                  <a:srgbClr val="1D2E28"/>
                </a:solidFill>
                <a:latin typeface="Arial"/>
                <a:ea typeface="Arial"/>
                <a:cs typeface="Arial"/>
              </a:defRPr>
            </a:pPr>
            <a:r>
              <a:rPr sz="2250" b="0">
                <a:solidFill>
                  <a:srgbClr val="1D2E28"/>
                </a:solidFill>
                <a:latin typeface="Arial"/>
                <a:ea typeface="Arial"/>
                <a:cs typeface="Arial"/>
              </a:rPr>
              <a:t>when the shelf changes?</a:t>
            </a:r>
          </a:p>
        </p:txBody>
      </p:sp>
      <p:sp>
        <p:nvSpPr>
          <p:cNvPr id="6" name="">
            <a:extLst xmlns:a="http://schemas.openxmlformats.org/drawingml/2006/main">
              <a:ext uri="{FF2B5EF4-FFF2-40B4-BE49-F238E27FC236}">
                <a16:creationId xmlns:a16="http://schemas.microsoft.com/office/drawing/2014/main" id="{5EC21691-8C4F-4FF7-AFB2-4E4DE944D40E}"/>
              </a:ext>
            </a:extLst>
          </p:cNvPr>
          <p:cNvSpPr>
            <a:spLocks xmlns:a="http://schemas.openxmlformats.org/drawingml/2006/main" noGrp="1"/>
          </p:cNvSpPr>
          <p:nvPr/>
        </p:nvSpPr>
        <p:spPr>
          <a:xfrm xmlns:a="http://schemas.openxmlformats.org/drawingml/2006/main">
            <a:off x="7029450" y="4667250"/>
            <a:ext cx="453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D2E28"/>
                </a:solidFill>
                <a:latin typeface="Arial"/>
                <a:ea typeface="Arial"/>
                <a:cs typeface="Arial"/>
              </a:defRPr>
            </a:pPr>
            <a:r>
              <a:rPr sz="2250" b="0">
                <a:solidFill>
                  <a:srgbClr val="1D2E28"/>
                </a:solidFill>
                <a:latin typeface="Arial"/>
                <a:ea typeface="Arial"/>
                <a:cs typeface="Arial"/>
              </a:rPr>
              <a:t>Could it help a retailer choose</a:t>
            </a:r>
          </a:p>
          <a:p xmlns:a="http://schemas.openxmlformats.org/drawingml/2006/main">
            <a:pPr>
              <a:defRPr sz="2250" b="0">
                <a:solidFill>
                  <a:srgbClr val="1D2E28"/>
                </a:solidFill>
                <a:latin typeface="Arial"/>
                <a:ea typeface="Arial"/>
                <a:cs typeface="Arial"/>
              </a:defRPr>
            </a:pPr>
            <a:r>
              <a:rPr sz="2250" b="0">
                <a:solidFill>
                  <a:srgbClr val="1D2E28"/>
                </a:solidFill>
                <a:latin typeface="Arial"/>
                <a:ea typeface="Arial"/>
                <a:cs typeface="Arial"/>
              </a:rPr>
              <a:t>what to test next?</a:t>
            </a:r>
          </a:p>
        </p:txBody>
      </p:sp>
    </p:spTree>
    <p:extLst>
      <p:ext uri="{BB962C8B-B14F-4D97-AF65-F5344CB8AC3E}">
        <p14:creationId xmlns:p14="http://schemas.microsoft.com/office/powerpoint/2010/main" val="2097218447"/>
      </p:ext>
    </p:extLst>
  </p:cSld>
</p:sld>
</file>

<file path=ppt/slides/slide3.xml><?xml version="1.0" encoding="utf-8"?>
<p:sld xmlns:p="http://schemas.openxmlformats.org/presentationml/2006/main">
  <p:cSld>
    <p:bg>
      <p:bgPr>
        <a:solidFill xmlns:a="http://schemas.openxmlformats.org/drawingml/2006/main">
          <a:srgbClr val="F5F4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69B9EEB-68E3-4110-8FC6-6E957DE8CB06}"/>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D2E28"/>
                </a:solidFill>
                <a:latin typeface="Arial"/>
                <a:ea typeface="Arial"/>
                <a:cs typeface="Arial"/>
              </a:defRPr>
            </a:pPr>
            <a:r>
              <a:rPr sz="3300" b="1">
                <a:solidFill>
                  <a:srgbClr val="1D2E28"/>
                </a:solidFill>
                <a:latin typeface="Arial"/>
                <a:ea typeface="Arial"/>
                <a:cs typeface="Arial"/>
              </a:rPr>
              <a:t>One webcam, three shelf zones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7a60647a3be4eac"/>
          <a:stretch xmlns:a="http://schemas.openxmlformats.org/drawingml/2006/main"/>
        </p:blipFill>
        <p:spPr>
          <a:xfrm xmlns:a="http://schemas.openxmlformats.org/drawingml/2006/main">
            <a:off x="591851" y="1323975"/>
            <a:ext cx="3959797" cy="50006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7F4CAE1-CE34-4CE7-9C3E-007C1FFDCD25}"/>
              </a:ext>
            </a:extLst>
          </p:cNvPr>
          <p:cNvSpPr>
            <a:spLocks xmlns:a="http://schemas.openxmlformats.org/drawingml/2006/main" noGrp="1"/>
          </p:cNvSpPr>
          <p:nvPr/>
        </p:nvSpPr>
        <p:spPr>
          <a:xfrm xmlns:a="http://schemas.openxmlformats.org/drawingml/2006/main">
            <a:off x="609600" y="6429375"/>
            <a:ext cx="422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36359"/>
                </a:solidFill>
                <a:latin typeface="Arial"/>
                <a:ea typeface="Arial"/>
                <a:cs typeface="Arial"/>
              </a:defRPr>
            </a:pPr>
            <a:r>
              <a:rPr sz="1500" b="0">
                <a:solidFill>
                  <a:srgbClr val="536359"/>
                </a:solidFill>
                <a:latin typeface="Arial"/>
                <a:ea typeface="Arial"/>
                <a:cs typeface="Arial"/>
              </a:rPr>
              <a:t>Camera off. No shopper observations.</a:t>
            </a:r>
          </a:p>
        </p:txBody>
      </p:sp>
      <p:sp>
        <p:nvSpPr>
          <p:cNvPr id="4" name="">
            <a:extLst xmlns:a="http://schemas.openxmlformats.org/drawingml/2006/main">
              <a:ext uri="{FF2B5EF4-FFF2-40B4-BE49-F238E27FC236}">
                <a16:creationId xmlns:a16="http://schemas.microsoft.com/office/drawing/2014/main" id="{B2336F14-6E49-42A7-9D93-F0BCA5AEF12E}"/>
              </a:ext>
            </a:extLst>
          </p:cNvPr>
          <p:cNvSpPr>
            <a:spLocks xmlns:a="http://schemas.openxmlformats.org/drawingml/2006/main" noGrp="1"/>
          </p:cNvSpPr>
          <p:nvPr/>
        </p:nvSpPr>
        <p:spPr>
          <a:xfrm xmlns:a="http://schemas.openxmlformats.org/drawingml/2006/main">
            <a:off x="5372100" y="1524000"/>
            <a:ext cx="6019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D2E28"/>
                </a:solidFill>
                <a:latin typeface="Arial"/>
                <a:ea typeface="Arial"/>
                <a:cs typeface="Arial"/>
              </a:defRPr>
            </a:pPr>
            <a:r>
              <a:rPr sz="2700" b="1">
                <a:solidFill>
                  <a:srgbClr val="1D2E28"/>
                </a:solidFill>
                <a:latin typeface="Arial"/>
                <a:ea typeface="Arial"/>
                <a:cs typeface="Arial"/>
              </a:rPr>
              <a:t>Left, centre or right</a:t>
            </a:r>
          </a:p>
        </p:txBody>
      </p:sp>
      <p:sp>
        <p:nvSpPr>
          <p:cNvPr id="5" name="">
            <a:extLst xmlns:a="http://schemas.openxmlformats.org/drawingml/2006/main">
              <a:ext uri="{FF2B5EF4-FFF2-40B4-BE49-F238E27FC236}">
                <a16:creationId xmlns:a16="http://schemas.microsoft.com/office/drawing/2014/main" id="{C23AA9CC-35C7-49BA-B19A-0ADBDE851CA8}"/>
              </a:ext>
            </a:extLst>
          </p:cNvPr>
          <p:cNvSpPr>
            <a:spLocks xmlns:a="http://schemas.openxmlformats.org/drawingml/2006/main" noGrp="1"/>
          </p:cNvSpPr>
          <p:nvPr/>
        </p:nvSpPr>
        <p:spPr>
          <a:xfrm xmlns:a="http://schemas.openxmlformats.org/drawingml/2006/main">
            <a:off x="5372100" y="2152650"/>
            <a:ext cx="609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D2E28"/>
                </a:solidFill>
                <a:latin typeface="Arial"/>
                <a:ea typeface="Arial"/>
                <a:cs typeface="Arial"/>
              </a:defRPr>
            </a:pPr>
            <a:r>
              <a:rPr sz="2100" b="0">
                <a:solidFill>
                  <a:srgbClr val="1D2E28"/>
                </a:solidFill>
                <a:latin typeface="Arial"/>
                <a:ea typeface="Arial"/>
                <a:cs typeface="Arial"/>
              </a:rPr>
              <a:t>Trace estimates gaze towards a broad</a:t>
            </a:r>
          </a:p>
          <a:p xmlns:a="http://schemas.openxmlformats.org/drawingml/2006/main">
            <a:pPr>
              <a:defRPr sz="2100" b="0">
                <a:solidFill>
                  <a:srgbClr val="1D2E28"/>
                </a:solidFill>
                <a:latin typeface="Arial"/>
                <a:ea typeface="Arial"/>
                <a:cs typeface="Arial"/>
              </a:defRPr>
            </a:pPr>
            <a:r>
              <a:rPr sz="2100" b="0">
                <a:solidFill>
                  <a:srgbClr val="1D2E28"/>
                </a:solidFill>
                <a:latin typeface="Arial"/>
                <a:ea typeface="Arial"/>
                <a:cs typeface="Arial"/>
              </a:rPr>
              <a:t>shelf zone and accumulates dwell.</a:t>
            </a:r>
          </a:p>
        </p:txBody>
      </p:sp>
      <p:sp>
        <p:nvSpPr>
          <p:cNvPr id="6" name="">
            <a:extLst xmlns:a="http://schemas.openxmlformats.org/drawingml/2006/main">
              <a:ext uri="{FF2B5EF4-FFF2-40B4-BE49-F238E27FC236}">
                <a16:creationId xmlns:a16="http://schemas.microsoft.com/office/drawing/2014/main" id="{F218E53D-0445-42C4-8A6B-22A8C282743E}"/>
              </a:ext>
            </a:extLst>
          </p:cNvPr>
          <p:cNvSpPr>
            <a:spLocks xmlns:a="http://schemas.openxmlformats.org/drawingml/2006/main" noGrp="1"/>
          </p:cNvSpPr>
          <p:nvPr/>
        </p:nvSpPr>
        <p:spPr>
          <a:xfrm xmlns:a="http://schemas.openxmlformats.org/drawingml/2006/main">
            <a:off x="5372100" y="3390900"/>
            <a:ext cx="6019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D2E28"/>
                </a:solidFill>
                <a:latin typeface="Arial"/>
                <a:ea typeface="Arial"/>
                <a:cs typeface="Arial"/>
              </a:defRPr>
            </a:pPr>
            <a:r>
              <a:rPr sz="2700" b="1">
                <a:solidFill>
                  <a:srgbClr val="1D2E28"/>
                </a:solidFill>
                <a:latin typeface="Arial"/>
                <a:ea typeface="Arial"/>
                <a:cs typeface="Arial"/>
              </a:rPr>
              <a:t>Temporary visits</a:t>
            </a:r>
          </a:p>
        </p:txBody>
      </p:sp>
      <p:sp>
        <p:nvSpPr>
          <p:cNvPr id="7" name="">
            <a:extLst xmlns:a="http://schemas.openxmlformats.org/drawingml/2006/main">
              <a:ext uri="{FF2B5EF4-FFF2-40B4-BE49-F238E27FC236}">
                <a16:creationId xmlns:a16="http://schemas.microsoft.com/office/drawing/2014/main" id="{2F414467-9569-4633-8BF7-9A043B79F266}"/>
              </a:ext>
            </a:extLst>
          </p:cNvPr>
          <p:cNvSpPr>
            <a:spLocks xmlns:a="http://schemas.openxmlformats.org/drawingml/2006/main" noGrp="1"/>
          </p:cNvSpPr>
          <p:nvPr/>
        </p:nvSpPr>
        <p:spPr>
          <a:xfrm xmlns:a="http://schemas.openxmlformats.org/drawingml/2006/main">
            <a:off x="5372100" y="4019550"/>
            <a:ext cx="60769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D2E28"/>
                </a:solidFill>
                <a:latin typeface="Arial"/>
                <a:ea typeface="Arial"/>
                <a:cs typeface="Arial"/>
              </a:defRPr>
            </a:pPr>
            <a:r>
              <a:rPr sz="2100" b="0">
                <a:solidFill>
                  <a:srgbClr val="1D2E28"/>
                </a:solidFill>
                <a:latin typeface="Arial"/>
                <a:ea typeface="Arial"/>
                <a:cs typeface="Arial"/>
              </a:rPr>
              <a:t>Tracks group observations without</a:t>
            </a:r>
          </a:p>
          <a:p xmlns:a="http://schemas.openxmlformats.org/drawingml/2006/main">
            <a:pPr>
              <a:defRPr sz="2100" b="0">
                <a:solidFill>
                  <a:srgbClr val="1D2E28"/>
                </a:solidFill>
                <a:latin typeface="Arial"/>
                <a:ea typeface="Arial"/>
                <a:cs typeface="Arial"/>
              </a:defRPr>
            </a:pPr>
            <a:r>
              <a:rPr sz="2100" b="0">
                <a:solidFill>
                  <a:srgbClr val="1D2E28"/>
                </a:solidFill>
                <a:latin typeface="Arial"/>
                <a:ea typeface="Arial"/>
                <a:cs typeface="Arial"/>
              </a:rPr>
              <a:t>identifying a person. Unclear views</a:t>
            </a:r>
          </a:p>
          <a:p xmlns:a="http://schemas.openxmlformats.org/drawingml/2006/main">
            <a:pPr>
              <a:defRPr sz="2100" b="0">
                <a:solidFill>
                  <a:srgbClr val="1D2E28"/>
                </a:solidFill>
                <a:latin typeface="Arial"/>
                <a:ea typeface="Arial"/>
                <a:cs typeface="Arial"/>
              </a:defRPr>
            </a:pPr>
            <a:r>
              <a:rPr sz="2100" b="0">
                <a:solidFill>
                  <a:srgbClr val="1D2E28"/>
                </a:solidFill>
                <a:latin typeface="Arial"/>
                <a:ea typeface="Arial"/>
                <a:cs typeface="Arial"/>
              </a:rPr>
              <a:t>stay unassigned.</a:t>
            </a:r>
          </a:p>
        </p:txBody>
      </p:sp>
      <p:sp>
        <p:nvSpPr>
          <p:cNvPr id="8" name="">
            <a:extLst xmlns:a="http://schemas.openxmlformats.org/drawingml/2006/main">
              <a:ext uri="{FF2B5EF4-FFF2-40B4-BE49-F238E27FC236}">
                <a16:creationId xmlns:a16="http://schemas.microsoft.com/office/drawing/2014/main" id="{C807F449-03AA-4FEC-A986-3F22FA0517E0}"/>
              </a:ext>
            </a:extLst>
          </p:cNvPr>
          <p:cNvSpPr>
            <a:spLocks xmlns:a="http://schemas.openxmlformats.org/drawingml/2006/main" noGrp="1"/>
          </p:cNvSpPr>
          <p:nvPr/>
        </p:nvSpPr>
        <p:spPr>
          <a:xfrm xmlns:a="http://schemas.openxmlformats.org/drawingml/2006/main">
            <a:off x="5372100" y="5581650"/>
            <a:ext cx="609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359"/>
                </a:solidFill>
                <a:latin typeface="Arial"/>
                <a:ea typeface="Arial"/>
                <a:cs typeface="Arial"/>
              </a:defRPr>
            </a:pPr>
            <a:r>
              <a:rPr sz="1725" b="0">
                <a:solidFill>
                  <a:srgbClr val="536359"/>
                </a:solidFill>
                <a:latin typeface="Arial"/>
                <a:ea typeface="Arial"/>
                <a:cs typeface="Arial"/>
              </a:rPr>
              <a:t>The operator enters shelf measurements.</a:t>
            </a:r>
          </a:p>
          <a:p xmlns:a="http://schemas.openxmlformats.org/drawingml/2006/main">
            <a:pPr>
              <a:defRPr sz="1725" b="0">
                <a:solidFill>
                  <a:srgbClr val="536359"/>
                </a:solidFill>
                <a:latin typeface="Arial"/>
                <a:ea typeface="Arial"/>
                <a:cs typeface="Arial"/>
              </a:defRPr>
            </a:pPr>
            <a:r>
              <a:rPr sz="1725" b="0">
                <a:solidFill>
                  <a:srgbClr val="536359"/>
                </a:solidFill>
                <a:latin typeface="Arial"/>
                <a:ea typeface="Arial"/>
                <a:cs typeface="Arial"/>
              </a:rPr>
              <a:t>Shoppers do not complete a calibration routine.</a:t>
            </a:r>
          </a:p>
        </p:txBody>
      </p:sp>
    </p:spTree>
    <p:extLst>
      <p:ext uri="{BB962C8B-B14F-4D97-AF65-F5344CB8AC3E}">
        <p14:creationId xmlns:p14="http://schemas.microsoft.com/office/powerpoint/2010/main" val="2138676482"/>
      </p:ext>
    </p:extLst>
  </p:cSld>
</p:sld>
</file>

<file path=ppt/slides/slide4.xml><?xml version="1.0" encoding="utf-8"?>
<p:sld xmlns:p="http://schemas.openxmlformats.org/presentationml/2006/main">
  <p:cSld>
    <p:bg>
      <p:bgPr>
        <a:solidFill xmlns:a="http://schemas.openxmlformats.org/drawingml/2006/main">
          <a:srgbClr val="F5F4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E0A4D5-9888-48CA-916E-5E01F6AC9835}"/>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D2E28"/>
                </a:solidFill>
                <a:latin typeface="Arial"/>
                <a:ea typeface="Arial"/>
                <a:cs typeface="Arial"/>
              </a:defRPr>
            </a:pPr>
            <a:r>
              <a:rPr sz="3300" b="1">
                <a:solidFill>
                  <a:srgbClr val="1D2E28"/>
                </a:solidFill>
                <a:latin typeface="Arial"/>
                <a:ea typeface="Arial"/>
                <a:cs typeface="Arial"/>
              </a:rPr>
              <a:t>A separate screen for example offers</a:t>
            </a:r>
          </a:p>
        </p:txBody>
      </p:sp>
      <p:sp>
        <p:nvSpPr>
          <p:cNvPr id="2" name="">
            <a:extLst xmlns:a="http://schemas.openxmlformats.org/drawingml/2006/main">
              <a:ext uri="{FF2B5EF4-FFF2-40B4-BE49-F238E27FC236}">
                <a16:creationId xmlns:a16="http://schemas.microsoft.com/office/drawing/2014/main" id="{D7008FA2-969F-42CC-8F56-0F40E8106161}"/>
              </a:ext>
            </a:extLst>
          </p:cNvPr>
          <p:cNvSpPr>
            <a:spLocks xmlns:a="http://schemas.openxmlformats.org/drawingml/2006/main" noGrp="1"/>
          </p:cNvSpPr>
          <p:nvPr/>
        </p:nvSpPr>
        <p:spPr>
          <a:xfrm xmlns:a="http://schemas.openxmlformats.org/drawingml/2006/main">
            <a:off x="609600" y="1762125"/>
            <a:ext cx="3495675"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D2E28"/>
                </a:solidFill>
                <a:latin typeface="Arial"/>
                <a:ea typeface="Arial"/>
                <a:cs typeface="Arial"/>
              </a:defRPr>
            </a:pPr>
            <a:r>
              <a:rPr sz="2700" b="1">
                <a:solidFill>
                  <a:srgbClr val="1D2E28"/>
                </a:solidFill>
                <a:latin typeface="Arial"/>
                <a:ea typeface="Arial"/>
                <a:cs typeface="Arial"/>
              </a:rPr>
              <a:t>Sustained</a:t>
            </a:r>
          </a:p>
          <a:p xmlns:a="http://schemas.openxmlformats.org/drawingml/2006/main">
            <a:pPr>
              <a:defRPr sz="2700" b="1">
                <a:solidFill>
                  <a:srgbClr val="1D2E28"/>
                </a:solidFill>
                <a:latin typeface="Arial"/>
                <a:ea typeface="Arial"/>
                <a:cs typeface="Arial"/>
              </a:defRPr>
            </a:pPr>
            <a:r>
              <a:rPr sz="2700" b="1">
                <a:solidFill>
                  <a:srgbClr val="1D2E28"/>
                </a:solidFill>
                <a:latin typeface="Arial"/>
                <a:ea typeface="Arial"/>
                <a:cs typeface="Arial"/>
              </a:rPr>
              <a:t>estimated gaze</a:t>
            </a:r>
          </a:p>
          <a:p xmlns:a="http://schemas.openxmlformats.org/drawingml/2006/main">
            <a:pPr>
              <a:defRPr sz="2700" b="1">
                <a:solidFill>
                  <a:srgbClr val="1D2E28"/>
                </a:solidFill>
                <a:latin typeface="Arial"/>
                <a:ea typeface="Arial"/>
                <a:cs typeface="Arial"/>
              </a:defRPr>
            </a:pPr>
            <a:r>
              <a:rPr sz="2700" b="1">
                <a:solidFill>
                  <a:srgbClr val="1D2E28"/>
                </a:solidFill>
                <a:latin typeface="Arial"/>
                <a:ea typeface="Arial"/>
                <a:cs typeface="Arial"/>
              </a:rPr>
              <a:t>can trigger an</a:t>
            </a:r>
          </a:p>
          <a:p xmlns:a="http://schemas.openxmlformats.org/drawingml/2006/main">
            <a:pPr>
              <a:defRPr sz="2700" b="1">
                <a:solidFill>
                  <a:srgbClr val="1D2E28"/>
                </a:solidFill>
                <a:latin typeface="Arial"/>
                <a:ea typeface="Arial"/>
                <a:cs typeface="Arial"/>
              </a:defRPr>
            </a:pPr>
            <a:r>
              <a:rPr sz="2700" b="1">
                <a:solidFill>
                  <a:srgbClr val="1D2E28"/>
                </a:solidFill>
                <a:latin typeface="Arial"/>
                <a:ea typeface="Arial"/>
                <a:cs typeface="Arial"/>
              </a:rPr>
              <a:t>example offer.</a:t>
            </a:r>
          </a:p>
        </p:txBody>
      </p:sp>
      <p:sp>
        <p:nvSpPr>
          <p:cNvPr id="3" name="">
            <a:extLst xmlns:a="http://schemas.openxmlformats.org/drawingml/2006/main">
              <a:ext uri="{FF2B5EF4-FFF2-40B4-BE49-F238E27FC236}">
                <a16:creationId xmlns:a16="http://schemas.microsoft.com/office/drawing/2014/main" id="{22834F78-47BC-4152-AFF2-2417DA794E01}"/>
              </a:ext>
            </a:extLst>
          </p:cNvPr>
          <p:cNvSpPr>
            <a:spLocks xmlns:a="http://schemas.openxmlformats.org/drawingml/2006/main" noGrp="1"/>
          </p:cNvSpPr>
          <p:nvPr/>
        </p:nvSpPr>
        <p:spPr>
          <a:xfrm xmlns:a="http://schemas.openxmlformats.org/drawingml/2006/main">
            <a:off x="609600" y="4181475"/>
            <a:ext cx="34956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D2E28"/>
                </a:solidFill>
                <a:latin typeface="Arial"/>
                <a:ea typeface="Arial"/>
                <a:cs typeface="Arial"/>
              </a:defRPr>
            </a:pPr>
            <a:r>
              <a:rPr sz="1950" b="0">
                <a:solidFill>
                  <a:srgbClr val="1D2E28"/>
                </a:solidFill>
                <a:latin typeface="Arial"/>
                <a:ea typeface="Arial"/>
                <a:cs typeface="Arial"/>
              </a:rPr>
              <a:t>The default dwell</a:t>
            </a:r>
          </a:p>
          <a:p xmlns:a="http://schemas.openxmlformats.org/drawingml/2006/main">
            <a:pPr>
              <a:defRPr sz="1950" b="0">
                <a:solidFill>
                  <a:srgbClr val="1D2E28"/>
                </a:solidFill>
                <a:latin typeface="Arial"/>
                <a:ea typeface="Arial"/>
                <a:cs typeface="Arial"/>
              </a:defRPr>
            </a:pPr>
            <a:r>
              <a:rPr sz="1950" b="0">
                <a:solidFill>
                  <a:srgbClr val="1D2E28"/>
                </a:solidFill>
                <a:latin typeface="Arial"/>
                <a:ea typeface="Arial"/>
                <a:cs typeface="Arial"/>
              </a:rPr>
              <a:t>threshold is 1.5 seconds.</a:t>
            </a:r>
          </a:p>
          <a:p xmlns:a="http://schemas.openxmlformats.org/drawingml/2006/main">
            <a:pPr>
              <a:defRPr sz="1950" b="0">
                <a:solidFill>
                  <a:srgbClr val="1D2E28"/>
                </a:solidFill>
                <a:latin typeface="Arial"/>
                <a:ea typeface="Arial"/>
                <a:cs typeface="Arial"/>
              </a:defRPr>
            </a:pPr>
            <a:r>
              <a:rPr sz="1950" b="0">
                <a:solidFill>
                  <a:srgbClr val="1D2E28"/>
                </a:solidFill>
                <a:latin typeface="Arial"/>
                <a:ea typeface="Arial"/>
                <a:cs typeface="Arial"/>
              </a:rPr>
              <a:t>Unclear or stale views</a:t>
            </a:r>
          </a:p>
          <a:p xmlns:a="http://schemas.openxmlformats.org/drawingml/2006/main">
            <a:pPr>
              <a:defRPr sz="1950" b="0">
                <a:solidFill>
                  <a:srgbClr val="1D2E28"/>
                </a:solidFill>
                <a:latin typeface="Arial"/>
                <a:ea typeface="Arial"/>
                <a:cs typeface="Arial"/>
              </a:defRPr>
            </a:pPr>
            <a:r>
              <a:rPr sz="1950" b="0">
                <a:solidFill>
                  <a:srgbClr val="1D2E28"/>
                </a:solidFill>
                <a:latin typeface="Arial"/>
                <a:ea typeface="Arial"/>
                <a:cs typeface="Arial"/>
              </a:rPr>
              <a:t>clear the zone offer.</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accdd5f1a584a40"/>
          <a:stretch xmlns:a="http://schemas.openxmlformats.org/drawingml/2006/main"/>
        </p:blipFill>
        <p:spPr>
          <a:xfrm xmlns:a="http://schemas.openxmlformats.org/drawingml/2006/main">
            <a:off x="4438650" y="1629966"/>
            <a:ext cx="7143750" cy="446484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88FA0E7-DD8B-4844-848C-1A364F2244A5}"/>
              </a:ext>
            </a:extLst>
          </p:cNvPr>
          <p:cNvSpPr>
            <a:spLocks xmlns:a="http://schemas.openxmlformats.org/drawingml/2006/main" noGrp="1"/>
          </p:cNvSpPr>
          <p:nvPr/>
        </p:nvSpPr>
        <p:spPr>
          <a:xfrm xmlns:a="http://schemas.openxmlformats.org/drawingml/2006/main">
            <a:off x="4438650" y="619125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36359"/>
                </a:solidFill>
                <a:latin typeface="Arial"/>
                <a:ea typeface="Arial"/>
                <a:cs typeface="Arial"/>
              </a:defRPr>
            </a:pPr>
            <a:r>
              <a:rPr sz="1500" b="0">
                <a:solidFill>
                  <a:srgbClr val="536359"/>
                </a:solidFill>
                <a:latin typeface="Arial"/>
                <a:ea typeface="Arial"/>
                <a:cs typeface="Arial"/>
              </a:rPr>
              <a:t>Idle interface capture. Offers are examples and cannot be redeemed.</a:t>
            </a:r>
          </a:p>
        </p:txBody>
      </p:sp>
      <p:sp>
        <p:nvSpPr>
          <p:cNvPr id="6" name="">
            <a:extLst xmlns:a="http://schemas.openxmlformats.org/drawingml/2006/main">
              <a:ext uri="{FF2B5EF4-FFF2-40B4-BE49-F238E27FC236}">
                <a16:creationId xmlns:a16="http://schemas.microsoft.com/office/drawing/2014/main" id="{3E99E531-DCFB-4DE8-AF99-A8E524CAFB62}"/>
              </a:ext>
            </a:extLst>
          </p:cNvPr>
          <p:cNvSpPr>
            <a:spLocks xmlns:a="http://schemas.openxmlformats.org/drawingml/2006/main" noGrp="1"/>
          </p:cNvSpPr>
          <p:nvPr/>
        </p:nvSpPr>
        <p:spPr>
          <a:xfrm xmlns:a="http://schemas.openxmlformats.org/drawingml/2006/main">
            <a:off x="609600" y="5972175"/>
            <a:ext cx="3571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3F6953"/>
                </a:solidFill>
                <a:latin typeface="Arial"/>
                <a:ea typeface="Arial"/>
                <a:cs typeface="Arial"/>
              </a:defRPr>
            </a:pPr>
            <a:r>
              <a:rPr sz="1725" b="1">
                <a:solidFill>
                  <a:srgbClr val="3F6953"/>
                </a:solidFill>
                <a:latin typeface="Arial"/>
                <a:ea typeface="Arial"/>
                <a:cs typeface="Arial"/>
                <a:hlinkClick xmlns:r="http://schemas.openxmlformats.org/officeDocument/2006/relationships" r:id="R420be1479a764093"/>
              </a:rPr>
              <a:t>Watch the interface tour</a:t>
            </a:r>
          </a:p>
        </p:txBody>
      </p:sp>
    </p:spTree>
    <p:extLst>
      <p:ext uri="{BB962C8B-B14F-4D97-AF65-F5344CB8AC3E}">
        <p14:creationId xmlns:p14="http://schemas.microsoft.com/office/powerpoint/2010/main" val="1416501163"/>
      </p:ext>
    </p:extLst>
  </p:cSld>
</p:sld>
</file>

<file path=ppt/slides/slide5.xml><?xml version="1.0" encoding="utf-8"?>
<p:sld xmlns:p="http://schemas.openxmlformats.org/presentationml/2006/main">
  <p:cSld>
    <p:bg>
      <p:bgPr>
        <a:solidFill xmlns:a="http://schemas.openxmlformats.org/drawingml/2006/main">
          <a:srgbClr val="172C2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8081152-D043-4FB1-AA3A-1DF71734E9C1}"/>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BFBF5"/>
                </a:solidFill>
                <a:latin typeface="Arial"/>
                <a:ea typeface="Arial"/>
                <a:cs typeface="Arial"/>
              </a:defRPr>
            </a:pPr>
            <a:r>
              <a:rPr sz="3300" b="1">
                <a:solidFill>
                  <a:srgbClr val="FBFBF5"/>
                </a:solidFill>
                <a:latin typeface="Arial"/>
                <a:ea typeface="Arial"/>
                <a:cs typeface="Arial"/>
              </a:rPr>
              <a:t>Processing stays on one computer</a:t>
            </a:r>
          </a:p>
        </p:txBody>
      </p:sp>
      <p:sp>
        <p:nvSpPr>
          <p:cNvPr id="2" name="">
            <a:extLst xmlns:a="http://schemas.openxmlformats.org/drawingml/2006/main">
              <a:ext uri="{FF2B5EF4-FFF2-40B4-BE49-F238E27FC236}">
                <a16:creationId xmlns:a16="http://schemas.microsoft.com/office/drawing/2014/main" id="{BBEF9595-F25E-4360-91A4-0DB01AA49123}"/>
              </a:ext>
            </a:extLst>
          </p:cNvPr>
          <p:cNvSpPr>
            <a:spLocks xmlns:a="http://schemas.openxmlformats.org/drawingml/2006/main" noGrp="1"/>
          </p:cNvSpPr>
          <p:nvPr/>
        </p:nvSpPr>
        <p:spPr>
          <a:xfrm xmlns:a="http://schemas.openxmlformats.org/drawingml/2006/main">
            <a:off x="4486275" y="1638300"/>
            <a:ext cx="647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CEDABF"/>
                </a:solidFill>
                <a:latin typeface="Arial"/>
                <a:ea typeface="Arial"/>
                <a:cs typeface="Arial"/>
              </a:defRPr>
            </a:pPr>
            <a:r>
              <a:rPr sz="2325" b="1">
                <a:solidFill>
                  <a:srgbClr val="CEDABF"/>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B8820EC-C23C-4BAC-9E60-7C1FE371DB7E}"/>
              </a:ext>
            </a:extLst>
          </p:cNvPr>
          <p:cNvSpPr>
            <a:spLocks xmlns:a="http://schemas.openxmlformats.org/drawingml/2006/main" noGrp="1"/>
          </p:cNvSpPr>
          <p:nvPr/>
        </p:nvSpPr>
        <p:spPr>
          <a:xfrm xmlns:a="http://schemas.openxmlformats.org/drawingml/2006/main">
            <a:off x="5286375" y="1638300"/>
            <a:ext cx="62960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FBFBF5"/>
                </a:solidFill>
                <a:latin typeface="Arial"/>
                <a:ea typeface="Arial"/>
                <a:cs typeface="Arial"/>
              </a:defRPr>
            </a:pPr>
            <a:r>
              <a:rPr sz="2325" b="1">
                <a:solidFill>
                  <a:srgbClr val="FBFBF5"/>
                </a:solidFill>
                <a:latin typeface="Arial"/>
                <a:ea typeface="Arial"/>
                <a:cs typeface="Arial"/>
              </a:rPr>
              <a:t>Webcam and operator browser</a:t>
            </a:r>
          </a:p>
        </p:txBody>
      </p:sp>
      <p:sp>
        <p:nvSpPr>
          <p:cNvPr id="4" name="">
            <a:extLst xmlns:a="http://schemas.openxmlformats.org/drawingml/2006/main">
              <a:ext uri="{FF2B5EF4-FFF2-40B4-BE49-F238E27FC236}">
                <a16:creationId xmlns:a16="http://schemas.microsoft.com/office/drawing/2014/main" id="{42B05FCF-E7F2-4108-8F57-2A9EC3BF19D0}"/>
              </a:ext>
            </a:extLst>
          </p:cNvPr>
          <p:cNvSpPr>
            <a:spLocks xmlns:a="http://schemas.openxmlformats.org/drawingml/2006/main" noGrp="1"/>
          </p:cNvSpPr>
          <p:nvPr/>
        </p:nvSpPr>
        <p:spPr>
          <a:xfrm xmlns:a="http://schemas.openxmlformats.org/drawingml/2006/main">
            <a:off x="5286375" y="2085975"/>
            <a:ext cx="6296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CEDABF"/>
                </a:solidFill>
                <a:latin typeface="Arial"/>
                <a:ea typeface="Arial"/>
                <a:cs typeface="Arial"/>
              </a:defRPr>
            </a:pPr>
            <a:r>
              <a:rPr sz="1800" b="0">
                <a:solidFill>
                  <a:srgbClr val="CEDABF"/>
                </a:solidFill>
                <a:latin typeface="Arial"/>
                <a:ea typeface="Arial"/>
                <a:cs typeface="Arial"/>
              </a:rPr>
              <a:t>Captures a frame for the local service.</a:t>
            </a:r>
          </a:p>
        </p:txBody>
      </p:sp>
      <p:sp>
        <p:nvSpPr>
          <p:cNvPr id="5" name="">
            <a:extLst xmlns:a="http://schemas.openxmlformats.org/drawingml/2006/main">
              <a:ext uri="{FF2B5EF4-FFF2-40B4-BE49-F238E27FC236}">
                <a16:creationId xmlns:a16="http://schemas.microsoft.com/office/drawing/2014/main" id="{9322F8C4-8A00-45B3-95F4-ED403FF77258}"/>
              </a:ext>
            </a:extLst>
          </p:cNvPr>
          <p:cNvSpPr>
            <a:spLocks xmlns:a="http://schemas.openxmlformats.org/drawingml/2006/main" noGrp="1"/>
          </p:cNvSpPr>
          <p:nvPr/>
        </p:nvSpPr>
        <p:spPr>
          <a:xfrm xmlns:a="http://schemas.openxmlformats.org/drawingml/2006/main">
            <a:off x="4486275" y="2714625"/>
            <a:ext cx="647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CEDABF"/>
                </a:solidFill>
                <a:latin typeface="Arial"/>
                <a:ea typeface="Arial"/>
                <a:cs typeface="Arial"/>
              </a:defRPr>
            </a:pPr>
            <a:r>
              <a:rPr sz="2325" b="1">
                <a:solidFill>
                  <a:srgbClr val="CEDABF"/>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2933D671-268E-4BD6-87EE-B37C567CB523}"/>
              </a:ext>
            </a:extLst>
          </p:cNvPr>
          <p:cNvSpPr>
            <a:spLocks xmlns:a="http://schemas.openxmlformats.org/drawingml/2006/main" noGrp="1"/>
          </p:cNvSpPr>
          <p:nvPr/>
        </p:nvSpPr>
        <p:spPr>
          <a:xfrm xmlns:a="http://schemas.openxmlformats.org/drawingml/2006/main">
            <a:off x="5286375" y="2714625"/>
            <a:ext cx="62960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FBFBF5"/>
                </a:solidFill>
                <a:latin typeface="Arial"/>
                <a:ea typeface="Arial"/>
                <a:cs typeface="Arial"/>
              </a:defRPr>
            </a:pPr>
            <a:r>
              <a:rPr sz="2325" b="1">
                <a:solidFill>
                  <a:srgbClr val="FBFBF5"/>
                </a:solidFill>
                <a:latin typeface="Arial"/>
                <a:ea typeface="Arial"/>
                <a:cs typeface="Arial"/>
              </a:rPr>
              <a:t>Local Python service</a:t>
            </a:r>
          </a:p>
        </p:txBody>
      </p:sp>
      <p:sp>
        <p:nvSpPr>
          <p:cNvPr id="7" name="">
            <a:extLst xmlns:a="http://schemas.openxmlformats.org/drawingml/2006/main">
              <a:ext uri="{FF2B5EF4-FFF2-40B4-BE49-F238E27FC236}">
                <a16:creationId xmlns:a16="http://schemas.microsoft.com/office/drawing/2014/main" id="{7CE04B9A-9778-4DFA-8151-0C02B3CB9197}"/>
              </a:ext>
            </a:extLst>
          </p:cNvPr>
          <p:cNvSpPr>
            <a:spLocks xmlns:a="http://schemas.openxmlformats.org/drawingml/2006/main" noGrp="1"/>
          </p:cNvSpPr>
          <p:nvPr/>
        </p:nvSpPr>
        <p:spPr>
          <a:xfrm xmlns:a="http://schemas.openxmlformats.org/drawingml/2006/main">
            <a:off x="5286375" y="3162300"/>
            <a:ext cx="6296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CEDABF"/>
                </a:solidFill>
                <a:latin typeface="Arial"/>
                <a:ea typeface="Arial"/>
                <a:cs typeface="Arial"/>
              </a:defRPr>
            </a:pPr>
            <a:r>
              <a:rPr sz="1800" b="0">
                <a:solidFill>
                  <a:srgbClr val="CEDABF"/>
                </a:solidFill>
                <a:latin typeface="Arial"/>
                <a:ea typeface="Arial"/>
                <a:cs typeface="Arial"/>
              </a:rPr>
              <a:t>Runs OpenVINO and maps gaze to the shelf.</a:t>
            </a:r>
          </a:p>
        </p:txBody>
      </p:sp>
      <p:sp>
        <p:nvSpPr>
          <p:cNvPr id="8" name="">
            <a:extLst xmlns:a="http://schemas.openxmlformats.org/drawingml/2006/main">
              <a:ext uri="{FF2B5EF4-FFF2-40B4-BE49-F238E27FC236}">
                <a16:creationId xmlns:a16="http://schemas.microsoft.com/office/drawing/2014/main" id="{37F6DB76-8EF5-4C8D-8DB1-CB86BCD87F6E}"/>
              </a:ext>
            </a:extLst>
          </p:cNvPr>
          <p:cNvSpPr>
            <a:spLocks xmlns:a="http://schemas.openxmlformats.org/drawingml/2006/main" noGrp="1"/>
          </p:cNvSpPr>
          <p:nvPr/>
        </p:nvSpPr>
        <p:spPr>
          <a:xfrm xmlns:a="http://schemas.openxmlformats.org/drawingml/2006/main">
            <a:off x="4486275" y="3790950"/>
            <a:ext cx="647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CEDABF"/>
                </a:solidFill>
                <a:latin typeface="Arial"/>
                <a:ea typeface="Arial"/>
                <a:cs typeface="Arial"/>
              </a:defRPr>
            </a:pPr>
            <a:r>
              <a:rPr sz="2325" b="1">
                <a:solidFill>
                  <a:srgbClr val="CEDABF"/>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3BCFB20D-9811-4795-B330-0515F8A58F2C}"/>
              </a:ext>
            </a:extLst>
          </p:cNvPr>
          <p:cNvSpPr>
            <a:spLocks xmlns:a="http://schemas.openxmlformats.org/drawingml/2006/main" noGrp="1"/>
          </p:cNvSpPr>
          <p:nvPr/>
        </p:nvSpPr>
        <p:spPr>
          <a:xfrm xmlns:a="http://schemas.openxmlformats.org/drawingml/2006/main">
            <a:off x="5286375" y="3790950"/>
            <a:ext cx="62960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FBFBF5"/>
                </a:solidFill>
                <a:latin typeface="Arial"/>
                <a:ea typeface="Arial"/>
                <a:cs typeface="Arial"/>
              </a:defRPr>
            </a:pPr>
            <a:r>
              <a:rPr sz="2325" b="1">
                <a:solidFill>
                  <a:srgbClr val="FBFBF5"/>
                </a:solidFill>
                <a:latin typeface="Arial"/>
                <a:ea typeface="Arial"/>
                <a:cs typeface="Arial"/>
              </a:rPr>
              <a:t>Temporary visit state</a:t>
            </a:r>
          </a:p>
        </p:txBody>
      </p:sp>
      <p:sp>
        <p:nvSpPr>
          <p:cNvPr id="10" name="">
            <a:extLst xmlns:a="http://schemas.openxmlformats.org/drawingml/2006/main">
              <a:ext uri="{FF2B5EF4-FFF2-40B4-BE49-F238E27FC236}">
                <a16:creationId xmlns:a16="http://schemas.microsoft.com/office/drawing/2014/main" id="{C06E1C33-B05B-4F71-A34B-0672C0485DC6}"/>
              </a:ext>
            </a:extLst>
          </p:cNvPr>
          <p:cNvSpPr>
            <a:spLocks xmlns:a="http://schemas.openxmlformats.org/drawingml/2006/main" noGrp="1"/>
          </p:cNvSpPr>
          <p:nvPr/>
        </p:nvSpPr>
        <p:spPr>
          <a:xfrm xmlns:a="http://schemas.openxmlformats.org/drawingml/2006/main">
            <a:off x="5286375" y="4238625"/>
            <a:ext cx="6296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CEDABF"/>
                </a:solidFill>
                <a:latin typeface="Arial"/>
                <a:ea typeface="Arial"/>
                <a:cs typeface="Arial"/>
              </a:defRPr>
            </a:pPr>
            <a:r>
              <a:rPr sz="1800" b="0">
                <a:solidFill>
                  <a:srgbClr val="CEDABF"/>
                </a:solidFill>
                <a:latin typeface="Arial"/>
                <a:ea typeface="Arial"/>
                <a:cs typeface="Arial"/>
              </a:rPr>
              <a:t>Accumulates dwell and selects an example offer.</a:t>
            </a:r>
          </a:p>
        </p:txBody>
      </p:sp>
      <p:sp>
        <p:nvSpPr>
          <p:cNvPr id="11" name="">
            <a:extLst xmlns:a="http://schemas.openxmlformats.org/drawingml/2006/main">
              <a:ext uri="{FF2B5EF4-FFF2-40B4-BE49-F238E27FC236}">
                <a16:creationId xmlns:a16="http://schemas.microsoft.com/office/drawing/2014/main" id="{F9DCE9C0-CDF5-4EB6-9685-9032939D1965}"/>
              </a:ext>
            </a:extLst>
          </p:cNvPr>
          <p:cNvSpPr>
            <a:spLocks xmlns:a="http://schemas.openxmlformats.org/drawingml/2006/main" noGrp="1"/>
          </p:cNvSpPr>
          <p:nvPr/>
        </p:nvSpPr>
        <p:spPr>
          <a:xfrm xmlns:a="http://schemas.openxmlformats.org/drawingml/2006/main">
            <a:off x="4486275" y="4867275"/>
            <a:ext cx="6477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CEDABF"/>
                </a:solidFill>
                <a:latin typeface="Arial"/>
                <a:ea typeface="Arial"/>
                <a:cs typeface="Arial"/>
              </a:defRPr>
            </a:pPr>
            <a:r>
              <a:rPr sz="2325" b="1">
                <a:solidFill>
                  <a:srgbClr val="CEDABF"/>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CC121667-160B-4302-ABD2-5867D6E562B0}"/>
              </a:ext>
            </a:extLst>
          </p:cNvPr>
          <p:cNvSpPr>
            <a:spLocks xmlns:a="http://schemas.openxmlformats.org/drawingml/2006/main" noGrp="1"/>
          </p:cNvSpPr>
          <p:nvPr/>
        </p:nvSpPr>
        <p:spPr>
          <a:xfrm xmlns:a="http://schemas.openxmlformats.org/drawingml/2006/main">
            <a:off x="5286375" y="4867275"/>
            <a:ext cx="62960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FBFBF5"/>
                </a:solidFill>
                <a:latin typeface="Arial"/>
                <a:ea typeface="Arial"/>
                <a:cs typeface="Arial"/>
              </a:defRPr>
            </a:pPr>
            <a:r>
              <a:rPr sz="2325" b="1">
                <a:solidFill>
                  <a:srgbClr val="FBFBF5"/>
                </a:solidFill>
                <a:latin typeface="Arial"/>
                <a:ea typeface="Arial"/>
                <a:cs typeface="Arial"/>
              </a:rPr>
              <a:t>Customer display</a:t>
            </a:r>
          </a:p>
        </p:txBody>
      </p:sp>
      <p:sp>
        <p:nvSpPr>
          <p:cNvPr id="13" name="">
            <a:extLst xmlns:a="http://schemas.openxmlformats.org/drawingml/2006/main">
              <a:ext uri="{FF2B5EF4-FFF2-40B4-BE49-F238E27FC236}">
                <a16:creationId xmlns:a16="http://schemas.microsoft.com/office/drawing/2014/main" id="{8063199F-2D09-49FE-8DC2-E00B81760075}"/>
              </a:ext>
            </a:extLst>
          </p:cNvPr>
          <p:cNvSpPr>
            <a:spLocks xmlns:a="http://schemas.openxmlformats.org/drawingml/2006/main" noGrp="1"/>
          </p:cNvSpPr>
          <p:nvPr/>
        </p:nvSpPr>
        <p:spPr>
          <a:xfrm xmlns:a="http://schemas.openxmlformats.org/drawingml/2006/main">
            <a:off x="5286375" y="5314950"/>
            <a:ext cx="6296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CEDABF"/>
                </a:solidFill>
                <a:latin typeface="Arial"/>
                <a:ea typeface="Arial"/>
                <a:cs typeface="Arial"/>
              </a:defRPr>
            </a:pPr>
            <a:r>
              <a:rPr sz="1800" b="0">
                <a:solidFill>
                  <a:srgbClr val="CEDABF"/>
                </a:solidFill>
                <a:latin typeface="Arial"/>
                <a:ea typeface="Arial"/>
                <a:cs typeface="Arial"/>
              </a:rPr>
              <a:t>Polls the API for the current message.</a:t>
            </a:r>
          </a:p>
        </p:txBody>
      </p:sp>
      <p:sp>
        <p:nvSpPr>
          <p:cNvPr id="14" name="">
            <a:extLst xmlns:a="http://schemas.openxmlformats.org/drawingml/2006/main">
              <a:ext uri="{FF2B5EF4-FFF2-40B4-BE49-F238E27FC236}">
                <a16:creationId xmlns:a16="http://schemas.microsoft.com/office/drawing/2014/main" id="{72F39368-26B4-49BC-9553-E7A6ACDFF10A}"/>
              </a:ext>
            </a:extLst>
          </p:cNvPr>
          <p:cNvSpPr>
            <a:spLocks xmlns:a="http://schemas.openxmlformats.org/drawingml/2006/main" noGrp="1"/>
          </p:cNvSpPr>
          <p:nvPr/>
        </p:nvSpPr>
        <p:spPr>
          <a:xfrm xmlns:a="http://schemas.openxmlformats.org/drawingml/2006/main">
            <a:off x="609600" y="1609725"/>
            <a:ext cx="3409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CEDABF"/>
                </a:solidFill>
                <a:latin typeface="Arial"/>
                <a:ea typeface="Arial"/>
                <a:cs typeface="Arial"/>
              </a:defRPr>
            </a:pPr>
            <a:r>
              <a:rPr sz="2175" b="1">
                <a:solidFill>
                  <a:srgbClr val="CEDABF"/>
                </a:solidFill>
                <a:latin typeface="Arial"/>
                <a:ea typeface="Arial"/>
                <a:cs typeface="Arial"/>
              </a:rPr>
              <a:t>Built for EAT_HACK</a:t>
            </a:r>
          </a:p>
        </p:txBody>
      </p:sp>
      <p:sp>
        <p:nvSpPr>
          <p:cNvPr id="15" name="">
            <a:extLst xmlns:a="http://schemas.openxmlformats.org/drawingml/2006/main">
              <a:ext uri="{FF2B5EF4-FFF2-40B4-BE49-F238E27FC236}">
                <a16:creationId xmlns:a16="http://schemas.microsoft.com/office/drawing/2014/main" id="{8B12CEB6-AB2C-4E3F-93C2-F5FB9D732EE9}"/>
              </a:ext>
            </a:extLst>
          </p:cNvPr>
          <p:cNvSpPr>
            <a:spLocks xmlns:a="http://schemas.openxmlformats.org/drawingml/2006/main" noGrp="1"/>
          </p:cNvSpPr>
          <p:nvPr/>
        </p:nvSpPr>
        <p:spPr>
          <a:xfrm xmlns:a="http://schemas.openxmlformats.org/drawingml/2006/main">
            <a:off x="609600" y="2209800"/>
            <a:ext cx="34099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BFBF5"/>
                </a:solidFill>
                <a:latin typeface="Arial"/>
                <a:ea typeface="Arial"/>
                <a:cs typeface="Arial"/>
              </a:defRPr>
            </a:pPr>
            <a:r>
              <a:rPr sz="1875" b="0">
                <a:solidFill>
                  <a:srgbClr val="FBFBF5"/>
                </a:solidFill>
                <a:latin typeface="Arial"/>
                <a:ea typeface="Arial"/>
                <a:cs typeface="Arial"/>
              </a:rPr>
              <a:t>Local Python service</a:t>
            </a:r>
          </a:p>
          <a:p xmlns:a="http://schemas.openxmlformats.org/drawingml/2006/main">
            <a:pPr>
              <a:defRPr sz="1875" b="0">
                <a:solidFill>
                  <a:srgbClr val="FBFBF5"/>
                </a:solidFill>
                <a:latin typeface="Arial"/>
                <a:ea typeface="Arial"/>
                <a:cs typeface="Arial"/>
              </a:defRPr>
            </a:pPr>
            <a:r>
              <a:rPr sz="1875" b="0">
                <a:solidFill>
                  <a:srgbClr val="FBFBF5"/>
                </a:solidFill>
                <a:latin typeface="Arial"/>
                <a:ea typeface="Arial"/>
                <a:cs typeface="Arial"/>
              </a:rPr>
              <a:t>Shelf geometry</a:t>
            </a:r>
          </a:p>
          <a:p xmlns:a="http://schemas.openxmlformats.org/drawingml/2006/main">
            <a:pPr>
              <a:defRPr sz="1875" b="0">
                <a:solidFill>
                  <a:srgbClr val="FBFBF5"/>
                </a:solidFill>
                <a:latin typeface="Arial"/>
                <a:ea typeface="Arial"/>
                <a:cs typeface="Arial"/>
              </a:defRPr>
            </a:pPr>
            <a:r>
              <a:rPr sz="1875" b="0">
                <a:solidFill>
                  <a:srgbClr val="FBFBF5"/>
                </a:solidFill>
                <a:latin typeface="Arial"/>
                <a:ea typeface="Arial"/>
                <a:cs typeface="Arial"/>
              </a:rPr>
              <a:t>Temporary visit logic</a:t>
            </a:r>
          </a:p>
          <a:p xmlns:a="http://schemas.openxmlformats.org/drawingml/2006/main">
            <a:pPr>
              <a:defRPr sz="1875" b="0">
                <a:solidFill>
                  <a:srgbClr val="FBFBF5"/>
                </a:solidFill>
                <a:latin typeface="Arial"/>
                <a:ea typeface="Arial"/>
                <a:cs typeface="Arial"/>
              </a:defRPr>
            </a:pPr>
            <a:r>
              <a:rPr sz="1875" b="0">
                <a:solidFill>
                  <a:srgbClr val="FBFBF5"/>
                </a:solidFill>
                <a:latin typeface="Arial"/>
                <a:ea typeface="Arial"/>
                <a:cs typeface="Arial"/>
              </a:rPr>
              <a:t>Operator and customer views</a:t>
            </a:r>
          </a:p>
        </p:txBody>
      </p:sp>
      <p:sp>
        <p:nvSpPr>
          <p:cNvPr id="16" name="">
            <a:extLst xmlns:a="http://schemas.openxmlformats.org/drawingml/2006/main">
              <a:ext uri="{FF2B5EF4-FFF2-40B4-BE49-F238E27FC236}">
                <a16:creationId xmlns:a16="http://schemas.microsoft.com/office/drawing/2014/main" id="{0636B2B6-4B56-404E-BD02-BE1EB091F3D7}"/>
              </a:ext>
            </a:extLst>
          </p:cNvPr>
          <p:cNvSpPr>
            <a:spLocks xmlns:a="http://schemas.openxmlformats.org/drawingml/2006/main" noGrp="1"/>
          </p:cNvSpPr>
          <p:nvPr/>
        </p:nvSpPr>
        <p:spPr>
          <a:xfrm xmlns:a="http://schemas.openxmlformats.org/drawingml/2006/main">
            <a:off x="609600" y="4219575"/>
            <a:ext cx="3409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CEDABF"/>
                </a:solidFill>
                <a:latin typeface="Arial"/>
                <a:ea typeface="Arial"/>
                <a:cs typeface="Arial"/>
              </a:defRPr>
            </a:pPr>
            <a:r>
              <a:rPr sz="2175" b="1">
                <a:solidFill>
                  <a:srgbClr val="CEDABF"/>
                </a:solidFill>
                <a:latin typeface="Arial"/>
                <a:ea typeface="Arial"/>
                <a:cs typeface="Arial"/>
              </a:rPr>
              <a:t>Pre-existing work</a:t>
            </a:r>
          </a:p>
        </p:txBody>
      </p:sp>
      <p:sp>
        <p:nvSpPr>
          <p:cNvPr id="17" name="">
            <a:extLst xmlns:a="http://schemas.openxmlformats.org/drawingml/2006/main">
              <a:ext uri="{FF2B5EF4-FFF2-40B4-BE49-F238E27FC236}">
                <a16:creationId xmlns:a16="http://schemas.microsoft.com/office/drawing/2014/main" id="{776CCBF4-CACF-41C0-BC6C-A9BE90D99034}"/>
              </a:ext>
            </a:extLst>
          </p:cNvPr>
          <p:cNvSpPr>
            <a:spLocks xmlns:a="http://schemas.openxmlformats.org/drawingml/2006/main" noGrp="1"/>
          </p:cNvSpPr>
          <p:nvPr/>
        </p:nvSpPr>
        <p:spPr>
          <a:xfrm xmlns:a="http://schemas.openxmlformats.org/drawingml/2006/main">
            <a:off x="609600" y="4819650"/>
            <a:ext cx="34099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BFBF5"/>
                </a:solidFill>
                <a:latin typeface="Arial"/>
                <a:ea typeface="Arial"/>
                <a:cs typeface="Arial"/>
              </a:defRPr>
            </a:pPr>
            <a:r>
              <a:rPr sz="1875" b="0">
                <a:solidFill>
                  <a:srgbClr val="FBFBF5"/>
                </a:solidFill>
                <a:latin typeface="Arial"/>
                <a:ea typeface="Arial"/>
                <a:cs typeface="Arial"/>
              </a:rPr>
              <a:t>Open Model Zoo models</a:t>
            </a:r>
          </a:p>
          <a:p xmlns:a="http://schemas.openxmlformats.org/drawingml/2006/main">
            <a:pPr>
              <a:defRPr sz="1875" b="0">
                <a:solidFill>
                  <a:srgbClr val="FBFBF5"/>
                </a:solidFill>
                <a:latin typeface="Arial"/>
                <a:ea typeface="Arial"/>
                <a:cs typeface="Arial"/>
              </a:defRPr>
            </a:pPr>
            <a:r>
              <a:rPr sz="1875" b="0">
                <a:solidFill>
                  <a:srgbClr val="FBFBF5"/>
                </a:solidFill>
                <a:latin typeface="Arial"/>
                <a:ea typeface="Arial"/>
                <a:cs typeface="Arial"/>
              </a:rPr>
              <a:t>and the upstream gaze demo</a:t>
            </a:r>
          </a:p>
        </p:txBody>
      </p:sp>
      <p:sp>
        <p:nvSpPr>
          <p:cNvPr id="18" name="">
            <a:extLst xmlns:a="http://schemas.openxmlformats.org/drawingml/2006/main">
              <a:ext uri="{FF2B5EF4-FFF2-40B4-BE49-F238E27FC236}">
                <a16:creationId xmlns:a16="http://schemas.microsoft.com/office/drawing/2014/main" id="{06DA0B49-0F51-4AA4-8194-08CD7E04C1A9}"/>
              </a:ext>
            </a:extLst>
          </p:cNvPr>
          <p:cNvSpPr>
            <a:spLocks xmlns:a="http://schemas.openxmlformats.org/drawingml/2006/main" noGrp="1"/>
          </p:cNvSpPr>
          <p:nvPr/>
        </p:nvSpPr>
        <p:spPr>
          <a:xfrm xmlns:a="http://schemas.openxmlformats.org/drawingml/2006/main">
            <a:off x="609600" y="613410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CEDABF"/>
                </a:solidFill>
                <a:latin typeface="Arial"/>
                <a:ea typeface="Arial"/>
                <a:cs typeface="Arial"/>
              </a:defRPr>
            </a:pPr>
            <a:r>
              <a:rPr sz="1725" b="1">
                <a:solidFill>
                  <a:srgbClr val="CEDABF"/>
                </a:solidFill>
                <a:latin typeface="Arial"/>
                <a:ea typeface="Arial"/>
                <a:cs typeface="Arial"/>
                <a:hlinkClick xmlns:r="http://schemas.openxmlformats.org/officeDocument/2006/relationships" r:id="Rb99f3ea47f114a67"/>
              </a:rPr>
              <a:t>Explore the system map</a:t>
            </a:r>
          </a:p>
        </p:txBody>
      </p:sp>
      <p:sp>
        <p:nvSpPr>
          <p:cNvPr id="19" name="">
            <a:extLst xmlns:a="http://schemas.openxmlformats.org/drawingml/2006/main">
              <a:ext uri="{FF2B5EF4-FFF2-40B4-BE49-F238E27FC236}">
                <a16:creationId xmlns:a16="http://schemas.microsoft.com/office/drawing/2014/main" id="{013FEEBC-7B5F-46E2-824E-B90F04A500EF}"/>
              </a:ext>
            </a:extLst>
          </p:cNvPr>
          <p:cNvSpPr>
            <a:spLocks xmlns:a="http://schemas.openxmlformats.org/drawingml/2006/main" noGrp="1"/>
          </p:cNvSpPr>
          <p:nvPr/>
        </p:nvSpPr>
        <p:spPr>
          <a:xfrm xmlns:a="http://schemas.openxmlformats.org/drawingml/2006/main">
            <a:off x="4486275" y="6191250"/>
            <a:ext cx="709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CEDABF"/>
                </a:solidFill>
                <a:latin typeface="Arial"/>
                <a:ea typeface="Arial"/>
                <a:cs typeface="Arial"/>
              </a:defRPr>
            </a:pPr>
            <a:r>
              <a:rPr sz="1725" b="0">
                <a:solidFill>
                  <a:srgbClr val="CEDABF"/>
                </a:solidFill>
                <a:latin typeface="Arial"/>
                <a:ea typeface="Arial"/>
                <a:cs typeface="Arial"/>
              </a:rPr>
              <a:t>No external inference service after setup</a:t>
            </a:r>
          </a:p>
        </p:txBody>
      </p:sp>
    </p:spTree>
    <p:extLst>
      <p:ext uri="{BB962C8B-B14F-4D97-AF65-F5344CB8AC3E}">
        <p14:creationId xmlns:p14="http://schemas.microsoft.com/office/powerpoint/2010/main" val="1223285703"/>
      </p:ext>
    </p:extLst>
  </p:cSld>
</p:sld>
</file>

<file path=ppt/slides/slide6.xml><?xml version="1.0" encoding="utf-8"?>
<p:sld xmlns:p="http://schemas.openxmlformats.org/presentationml/2006/main">
  <p:cSld>
    <p:bg>
      <p:bgPr>
        <a:solidFill xmlns:a="http://schemas.openxmlformats.org/drawingml/2006/main">
          <a:srgbClr val="F5F4E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888CF57-2437-462D-BDB9-CC1C7D2E9DB3}"/>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D2E28"/>
                </a:solidFill>
                <a:latin typeface="Arial"/>
                <a:ea typeface="Arial"/>
                <a:cs typeface="Arial"/>
              </a:defRPr>
            </a:pPr>
            <a:r>
              <a:rPr sz="3300" b="1">
                <a:solidFill>
                  <a:srgbClr val="1D2E28"/>
                </a:solidFill>
                <a:latin typeface="Arial"/>
                <a:ea typeface="Arial"/>
                <a:cs typeface="Arial"/>
              </a:rPr>
              <a:t>Software evidence and physical validation</a:t>
            </a:r>
          </a:p>
        </p:txBody>
      </p:sp>
      <p:sp>
        <p:nvSpPr>
          <p:cNvPr id="2" name="">
            <a:extLst xmlns:a="http://schemas.openxmlformats.org/drawingml/2006/main">
              <a:ext uri="{FF2B5EF4-FFF2-40B4-BE49-F238E27FC236}">
                <a16:creationId xmlns:a16="http://schemas.microsoft.com/office/drawing/2014/main" id="{BFCDC418-1C09-4319-B4B5-C8B01D8572DD}"/>
              </a:ext>
            </a:extLst>
          </p:cNvPr>
          <p:cNvSpPr>
            <a:spLocks xmlns:a="http://schemas.openxmlformats.org/drawingml/2006/main" noGrp="1"/>
          </p:cNvSpPr>
          <p:nvPr/>
        </p:nvSpPr>
        <p:spPr>
          <a:xfrm xmlns:a="http://schemas.openxmlformats.org/drawingml/2006/main">
            <a:off x="609600" y="1514475"/>
            <a:ext cx="2428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800" b="1">
                <a:solidFill>
                  <a:srgbClr val="3F6953"/>
                </a:solidFill>
                <a:latin typeface="Arial"/>
                <a:ea typeface="Arial"/>
                <a:cs typeface="Arial"/>
              </a:defRPr>
            </a:pPr>
            <a:r>
              <a:rPr sz="7800" b="1">
                <a:solidFill>
                  <a:srgbClr val="3F6953"/>
                </a:solidFill>
                <a:latin typeface="Arial"/>
                <a:ea typeface="Arial"/>
                <a:cs typeface="Arial"/>
              </a:rPr>
              <a:t>68</a:t>
            </a:r>
          </a:p>
        </p:txBody>
      </p:sp>
      <p:sp>
        <p:nvSpPr>
          <p:cNvPr id="3" name="">
            <a:extLst xmlns:a="http://schemas.openxmlformats.org/drawingml/2006/main">
              <a:ext uri="{FF2B5EF4-FFF2-40B4-BE49-F238E27FC236}">
                <a16:creationId xmlns:a16="http://schemas.microsoft.com/office/drawing/2014/main" id="{209589E4-81B4-4F99-9504-4E9D9DB906D0}"/>
              </a:ext>
            </a:extLst>
          </p:cNvPr>
          <p:cNvSpPr>
            <a:spLocks xmlns:a="http://schemas.openxmlformats.org/drawingml/2006/main" noGrp="1"/>
          </p:cNvSpPr>
          <p:nvPr/>
        </p:nvSpPr>
        <p:spPr>
          <a:xfrm xmlns:a="http://schemas.openxmlformats.org/drawingml/2006/main">
            <a:off x="666750" y="2714625"/>
            <a:ext cx="2790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D2E28"/>
                </a:solidFill>
                <a:latin typeface="Arial"/>
                <a:ea typeface="Arial"/>
                <a:cs typeface="Arial"/>
              </a:defRPr>
            </a:pPr>
            <a:r>
              <a:rPr sz="2250" b="1">
                <a:solidFill>
                  <a:srgbClr val="1D2E28"/>
                </a:solidFill>
                <a:latin typeface="Arial"/>
                <a:ea typeface="Arial"/>
                <a:cs typeface="Arial"/>
              </a:rPr>
              <a:t>Python tests</a:t>
            </a:r>
          </a:p>
        </p:txBody>
      </p:sp>
      <p:sp>
        <p:nvSpPr>
          <p:cNvPr id="4" name="">
            <a:extLst xmlns:a="http://schemas.openxmlformats.org/drawingml/2006/main">
              <a:ext uri="{FF2B5EF4-FFF2-40B4-BE49-F238E27FC236}">
                <a16:creationId xmlns:a16="http://schemas.microsoft.com/office/drawing/2014/main" id="{7C4BB7BC-E513-471A-BF06-1D53BB2DBC42}"/>
              </a:ext>
            </a:extLst>
          </p:cNvPr>
          <p:cNvSpPr>
            <a:spLocks xmlns:a="http://schemas.openxmlformats.org/drawingml/2006/main" noGrp="1"/>
          </p:cNvSpPr>
          <p:nvPr/>
        </p:nvSpPr>
        <p:spPr>
          <a:xfrm xmlns:a="http://schemas.openxmlformats.org/drawingml/2006/main">
            <a:off x="3733800" y="1514475"/>
            <a:ext cx="2428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800" b="1">
                <a:solidFill>
                  <a:srgbClr val="3F6953"/>
                </a:solidFill>
                <a:latin typeface="Arial"/>
                <a:ea typeface="Arial"/>
                <a:cs typeface="Arial"/>
              </a:defRPr>
            </a:pPr>
            <a:r>
              <a:rPr sz="7800" b="1">
                <a:solidFill>
                  <a:srgbClr val="3F6953"/>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C80A4E21-39E5-4929-9AC2-6A3DE73AA2B2}"/>
              </a:ext>
            </a:extLst>
          </p:cNvPr>
          <p:cNvSpPr>
            <a:spLocks xmlns:a="http://schemas.openxmlformats.org/drawingml/2006/main" noGrp="1"/>
          </p:cNvSpPr>
          <p:nvPr/>
        </p:nvSpPr>
        <p:spPr>
          <a:xfrm xmlns:a="http://schemas.openxmlformats.org/drawingml/2006/main">
            <a:off x="3790950" y="2714625"/>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D2E28"/>
                </a:solidFill>
                <a:latin typeface="Arial"/>
                <a:ea typeface="Arial"/>
                <a:cs typeface="Arial"/>
              </a:defRPr>
            </a:pPr>
            <a:r>
              <a:rPr sz="2250" b="1">
                <a:solidFill>
                  <a:srgbClr val="1D2E28"/>
                </a:solidFill>
                <a:latin typeface="Arial"/>
                <a:ea typeface="Arial"/>
                <a:cs typeface="Arial"/>
              </a:rPr>
              <a:t>JavaScript tests</a:t>
            </a:r>
          </a:p>
        </p:txBody>
      </p:sp>
      <p:sp>
        <p:nvSpPr>
          <p:cNvPr id="6" name="">
            <a:extLst xmlns:a="http://schemas.openxmlformats.org/drawingml/2006/main">
              <a:ext uri="{FF2B5EF4-FFF2-40B4-BE49-F238E27FC236}">
                <a16:creationId xmlns:a16="http://schemas.microsoft.com/office/drawing/2014/main" id="{CDF1E588-204E-47EB-9839-65CDE98EEE9E}"/>
              </a:ext>
            </a:extLst>
          </p:cNvPr>
          <p:cNvSpPr>
            <a:spLocks xmlns:a="http://schemas.openxmlformats.org/drawingml/2006/main" noGrp="1"/>
          </p:cNvSpPr>
          <p:nvPr/>
        </p:nvSpPr>
        <p:spPr>
          <a:xfrm xmlns:a="http://schemas.openxmlformats.org/drawingml/2006/main">
            <a:off x="666750" y="3533775"/>
            <a:ext cx="5734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36359"/>
                </a:solidFill>
                <a:latin typeface="Arial"/>
                <a:ea typeface="Arial"/>
                <a:cs typeface="Arial"/>
              </a:defRPr>
            </a:pPr>
            <a:r>
              <a:rPr sz="1950" b="0">
                <a:solidFill>
                  <a:srgbClr val="536359"/>
                </a:solidFill>
                <a:latin typeface="Arial"/>
                <a:ea typeface="Arial"/>
                <a:cs typeface="Arial"/>
              </a:rPr>
              <a:t>Passed in the recorded software review</a:t>
            </a:r>
          </a:p>
          <a:p xmlns:a="http://schemas.openxmlformats.org/drawingml/2006/main">
            <a:pPr>
              <a:defRPr sz="1950" b="0">
                <a:solidFill>
                  <a:srgbClr val="536359"/>
                </a:solidFill>
                <a:latin typeface="Arial"/>
                <a:ea typeface="Arial"/>
                <a:cs typeface="Arial"/>
              </a:defRPr>
            </a:pPr>
            <a:r>
              <a:rPr sz="1950" b="0">
                <a:solidFill>
                  <a:srgbClr val="536359"/>
                </a:solidFill>
                <a:latin typeface="Arial"/>
                <a:ea typeface="Arial"/>
                <a:cs typeface="Arial"/>
              </a:rPr>
              <a:t>on 3 October 2026</a:t>
            </a:r>
          </a:p>
        </p:txBody>
      </p:sp>
      <p:sp>
        <p:nvSpPr>
          <p:cNvPr id="7" name="">
            <a:extLst xmlns:a="http://schemas.openxmlformats.org/drawingml/2006/main">
              <a:ext uri="{FF2B5EF4-FFF2-40B4-BE49-F238E27FC236}">
                <a16:creationId xmlns:a16="http://schemas.microsoft.com/office/drawing/2014/main" id="{545AE0DD-7EF0-45F2-8386-0FC73F4B92A1}"/>
              </a:ext>
            </a:extLst>
          </p:cNvPr>
          <p:cNvSpPr>
            <a:spLocks xmlns:a="http://schemas.openxmlformats.org/drawingml/2006/main" noGrp="1"/>
          </p:cNvSpPr>
          <p:nvPr/>
        </p:nvSpPr>
        <p:spPr>
          <a:xfrm xmlns:a="http://schemas.openxmlformats.org/drawingml/2006/main">
            <a:off x="666750" y="4829175"/>
            <a:ext cx="58388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D2E28"/>
                </a:solidFill>
                <a:latin typeface="Arial"/>
                <a:ea typeface="Arial"/>
                <a:cs typeface="Arial"/>
              </a:defRPr>
            </a:pPr>
            <a:r>
              <a:rPr sz="2100" b="0">
                <a:solidFill>
                  <a:srgbClr val="1D2E28"/>
                </a:solidFill>
                <a:latin typeface="Arial"/>
                <a:ea typeface="Arial"/>
                <a:cs typeface="Arial"/>
              </a:rPr>
              <a:t>Browser checks cover setup, reset,</a:t>
            </a:r>
          </a:p>
          <a:p xmlns:a="http://schemas.openxmlformats.org/drawingml/2006/main">
            <a:pPr>
              <a:defRPr sz="2100" b="0">
                <a:solidFill>
                  <a:srgbClr val="1D2E28"/>
                </a:solidFill>
                <a:latin typeface="Arial"/>
                <a:ea typeface="Arial"/>
                <a:cs typeface="Arial"/>
              </a:defRPr>
            </a:pPr>
            <a:r>
              <a:rPr sz="2100" b="0">
                <a:solidFill>
                  <a:srgbClr val="1D2E28"/>
                </a:solidFill>
                <a:latin typeface="Arial"/>
                <a:ea typeface="Arial"/>
                <a:cs typeface="Arial"/>
              </a:rPr>
              <a:t>restart and display recovery.</a:t>
            </a:r>
          </a:p>
        </p:txBody>
      </p:sp>
      <p:sp>
        <p:nvSpPr>
          <p:cNvPr id="8" name="">
            <a:extLst xmlns:a="http://schemas.openxmlformats.org/drawingml/2006/main">
              <a:ext uri="{FF2B5EF4-FFF2-40B4-BE49-F238E27FC236}">
                <a16:creationId xmlns:a16="http://schemas.microsoft.com/office/drawing/2014/main" id="{B50E882C-4517-477C-BB3E-3CB50015CD98}"/>
              </a:ext>
            </a:extLst>
          </p:cNvPr>
          <p:cNvSpPr>
            <a:spLocks xmlns:a="http://schemas.openxmlformats.org/drawingml/2006/main" noGrp="1"/>
          </p:cNvSpPr>
          <p:nvPr/>
        </p:nvSpPr>
        <p:spPr>
          <a:xfrm xmlns:a="http://schemas.openxmlformats.org/drawingml/2006/main">
            <a:off x="7353300" y="1619250"/>
            <a:ext cx="40671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D2E28"/>
                </a:solidFill>
                <a:latin typeface="Arial"/>
                <a:ea typeface="Arial"/>
                <a:cs typeface="Arial"/>
              </a:defRPr>
            </a:pPr>
            <a:r>
              <a:rPr sz="2550" b="1">
                <a:solidFill>
                  <a:srgbClr val="1D2E28"/>
                </a:solidFill>
                <a:latin typeface="Arial"/>
                <a:ea typeface="Arial"/>
                <a:cs typeface="Arial"/>
              </a:rPr>
              <a:t>Still to measure</a:t>
            </a:r>
          </a:p>
        </p:txBody>
      </p:sp>
      <p:sp>
        <p:nvSpPr>
          <p:cNvPr id="9" name="">
            <a:extLst xmlns:a="http://schemas.openxmlformats.org/drawingml/2006/main">
              <a:ext uri="{FF2B5EF4-FFF2-40B4-BE49-F238E27FC236}">
                <a16:creationId xmlns:a16="http://schemas.microsoft.com/office/drawing/2014/main" id="{55AB8F5B-8A0B-4CCE-8BA1-3F4D29663FC9}"/>
              </a:ext>
            </a:extLst>
          </p:cNvPr>
          <p:cNvSpPr>
            <a:spLocks xmlns:a="http://schemas.openxmlformats.org/drawingml/2006/main" noGrp="1"/>
          </p:cNvSpPr>
          <p:nvPr/>
        </p:nvSpPr>
        <p:spPr>
          <a:xfrm xmlns:a="http://schemas.openxmlformats.org/drawingml/2006/main">
            <a:off x="7353300" y="2390775"/>
            <a:ext cx="406717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D2E28"/>
                </a:solidFill>
                <a:latin typeface="Arial"/>
                <a:ea typeface="Arial"/>
                <a:cs typeface="Arial"/>
              </a:defRPr>
            </a:pPr>
            <a:r>
              <a:rPr sz="2100" b="0">
                <a:solidFill>
                  <a:srgbClr val="1D2E28"/>
                </a:solidFill>
                <a:latin typeface="Arial"/>
                <a:ea typeface="Arial"/>
                <a:cs typeface="Arial"/>
              </a:rPr>
              <a:t>Physical shelf gaze accuracy</a:t>
            </a:r>
          </a:p>
          <a:p xmlns:a="http://schemas.openxmlformats.org/drawingml/2006/main">
            <a:pPr>
              <a:defRPr sz="2100" b="0">
                <a:solidFill>
                  <a:srgbClr val="1D2E28"/>
                </a:solidFill>
                <a:latin typeface="Arial"/>
                <a:ea typeface="Arial"/>
                <a:cs typeface="Arial"/>
              </a:defRPr>
            </a:pPr>
            <a:r>
              <a:rPr sz="2100" b="0">
                <a:solidFill>
                  <a:srgbClr val="1D2E28"/>
                </a:solidFill>
                <a:latin typeface="Arial"/>
                <a:ea typeface="Arial"/>
                <a:cs typeface="Arial"/>
              </a:rPr>
              <a:t>and performance across</a:t>
            </a:r>
          </a:p>
          <a:p xmlns:a="http://schemas.openxmlformats.org/drawingml/2006/main">
            <a:pPr>
              <a:defRPr sz="2100" b="0">
                <a:solidFill>
                  <a:srgbClr val="1D2E28"/>
                </a:solidFill>
                <a:latin typeface="Arial"/>
                <a:ea typeface="Arial"/>
                <a:cs typeface="Arial"/>
              </a:defRPr>
            </a:pPr>
            <a:r>
              <a:rPr sz="2100" b="0">
                <a:solidFill>
                  <a:srgbClr val="1D2E28"/>
                </a:solidFill>
                <a:latin typeface="Arial"/>
                <a:ea typeface="Arial"/>
                <a:cs typeface="Arial"/>
              </a:rPr>
              <a:t>real browsing conditions.</a:t>
            </a:r>
          </a:p>
        </p:txBody>
      </p:sp>
      <p:sp>
        <p:nvSpPr>
          <p:cNvPr id="10" name="">
            <a:extLst xmlns:a="http://schemas.openxmlformats.org/drawingml/2006/main">
              <a:ext uri="{FF2B5EF4-FFF2-40B4-BE49-F238E27FC236}">
                <a16:creationId xmlns:a16="http://schemas.microsoft.com/office/drawing/2014/main" id="{02E0829F-E208-47F9-95B4-22E0785DDA3F}"/>
              </a:ext>
            </a:extLst>
          </p:cNvPr>
          <p:cNvSpPr>
            <a:spLocks xmlns:a="http://schemas.openxmlformats.org/drawingml/2006/main" noGrp="1"/>
          </p:cNvSpPr>
          <p:nvPr/>
        </p:nvSpPr>
        <p:spPr>
          <a:xfrm xmlns:a="http://schemas.openxmlformats.org/drawingml/2006/main">
            <a:off x="7353300" y="4591050"/>
            <a:ext cx="41719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359"/>
                </a:solidFill>
                <a:latin typeface="Arial"/>
                <a:ea typeface="Arial"/>
                <a:cs typeface="Arial"/>
              </a:defRPr>
            </a:pPr>
            <a:r>
              <a:rPr sz="1875" b="0">
                <a:solidFill>
                  <a:srgbClr val="536359"/>
                </a:solidFill>
                <a:latin typeface="Arial"/>
                <a:ea typeface="Arial"/>
                <a:cs typeface="Arial"/>
              </a:rPr>
              <a:t>Product recognition, purchases</a:t>
            </a:r>
          </a:p>
          <a:p xmlns:a="http://schemas.openxmlformats.org/drawingml/2006/main">
            <a:pPr>
              <a:defRPr sz="1875" b="0">
                <a:solidFill>
                  <a:srgbClr val="536359"/>
                </a:solidFill>
                <a:latin typeface="Arial"/>
                <a:ea typeface="Arial"/>
                <a:cs typeface="Arial"/>
              </a:defRPr>
            </a:pPr>
            <a:r>
              <a:rPr sz="1875" b="0">
                <a:solidFill>
                  <a:srgbClr val="536359"/>
                </a:solidFill>
                <a:latin typeface="Arial"/>
                <a:ea typeface="Arial"/>
                <a:cs typeface="Arial"/>
              </a:rPr>
              <a:t>and returning-customer</a:t>
            </a:r>
          </a:p>
          <a:p xmlns:a="http://schemas.openxmlformats.org/drawingml/2006/main">
            <a:pPr>
              <a:defRPr sz="1875" b="0">
                <a:solidFill>
                  <a:srgbClr val="536359"/>
                </a:solidFill>
                <a:latin typeface="Arial"/>
                <a:ea typeface="Arial"/>
                <a:cs typeface="Arial"/>
              </a:defRPr>
            </a:pPr>
            <a:r>
              <a:rPr sz="1875" b="0">
                <a:solidFill>
                  <a:srgbClr val="536359"/>
                </a:solidFill>
                <a:latin typeface="Arial"/>
                <a:ea typeface="Arial"/>
                <a:cs typeface="Arial"/>
              </a:rPr>
              <a:t>identification are not implemented.</a:t>
            </a:r>
          </a:p>
        </p:txBody>
      </p:sp>
    </p:spTree>
    <p:extLst>
      <p:ext uri="{BB962C8B-B14F-4D97-AF65-F5344CB8AC3E}">
        <p14:creationId xmlns:p14="http://schemas.microsoft.com/office/powerpoint/2010/main" val="162863914"/>
      </p:ext>
    </p:extLst>
  </p:cSld>
</p:sld>
</file>

<file path=ppt/slides/slide7.xml><?xml version="1.0" encoding="utf-8"?>
<p:sld xmlns:p="http://schemas.openxmlformats.org/presentationml/2006/main">
  <p:cSld>
    <p:bg>
      <p:bgPr>
        <a:solidFill xmlns:a="http://schemas.openxmlformats.org/drawingml/2006/main">
          <a:srgbClr val="F5F4E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DE63A49-6FFA-4AE6-8BB4-43CE4F684535}"/>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D2E28"/>
                </a:solidFill>
                <a:latin typeface="Arial"/>
                <a:ea typeface="Arial"/>
                <a:cs typeface="Arial"/>
              </a:defRPr>
            </a:pPr>
            <a:r>
              <a:rPr sz="3300" b="1">
                <a:solidFill>
                  <a:srgbClr val="1D2E28"/>
                </a:solidFill>
                <a:latin typeface="Arial"/>
                <a:ea typeface="Arial"/>
                <a:cs typeface="Arial"/>
              </a:rPr>
              <a:t>A proposed path to forecasting</a:t>
            </a:r>
          </a:p>
        </p:txBody>
      </p:sp>
      <p:sp>
        <p:nvSpPr>
          <p:cNvPr id="2" name="">
            <a:extLst xmlns:a="http://schemas.openxmlformats.org/drawingml/2006/main">
              <a:ext uri="{FF2B5EF4-FFF2-40B4-BE49-F238E27FC236}">
                <a16:creationId xmlns:a16="http://schemas.microsoft.com/office/drawing/2014/main" id="{949541F3-ABBD-4D09-9275-06C46F40D905}"/>
              </a:ext>
            </a:extLst>
          </p:cNvPr>
          <p:cNvSpPr>
            <a:spLocks xmlns:a="http://schemas.openxmlformats.org/drawingml/2006/main" noGrp="1"/>
          </p:cNvSpPr>
          <p:nvPr/>
        </p:nvSpPr>
        <p:spPr>
          <a:xfrm xmlns:a="http://schemas.openxmlformats.org/drawingml/2006/main">
            <a:off x="609600" y="13049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3F6953"/>
                </a:solidFill>
                <a:latin typeface="Arial"/>
                <a:ea typeface="Arial"/>
                <a:cs typeface="Arial"/>
              </a:defRPr>
            </a:pPr>
            <a:r>
              <a:rPr sz="2175" b="1">
                <a:solidFill>
                  <a:srgbClr val="3F6953"/>
                </a:solidFill>
                <a:latin typeface="Arial"/>
                <a:ea typeface="Arial"/>
                <a:cs typeface="Arial"/>
              </a:rPr>
              <a:t>First target: next week's share of estimated gaze time by shelf zone</a:t>
            </a:r>
          </a:p>
        </p:txBody>
      </p:sp>
      <p:sp>
        <p:nvSpPr>
          <p:cNvPr id="3" name="">
            <a:extLst xmlns:a="http://schemas.openxmlformats.org/drawingml/2006/main">
              <a:ext uri="{FF2B5EF4-FFF2-40B4-BE49-F238E27FC236}">
                <a16:creationId xmlns:a16="http://schemas.microsoft.com/office/drawing/2014/main" id="{21F02260-1EB6-467E-B7A5-BF2704A15700}"/>
              </a:ext>
            </a:extLst>
          </p:cNvPr>
          <p:cNvSpPr>
            <a:spLocks xmlns:a="http://schemas.openxmlformats.org/drawingml/2006/main" noGrp="1"/>
          </p:cNvSpPr>
          <p:nvPr/>
        </p:nvSpPr>
        <p:spPr>
          <a:xfrm xmlns:a="http://schemas.openxmlformats.org/drawingml/2006/main">
            <a:off x="609600" y="2476500"/>
            <a:ext cx="247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3F6953"/>
                </a:solidFill>
                <a:latin typeface="Arial"/>
                <a:ea typeface="Arial"/>
                <a:cs typeface="Arial"/>
              </a:defRPr>
            </a:pPr>
            <a:r>
              <a:rPr sz="4800" b="1">
                <a:solidFill>
                  <a:srgbClr val="3F6953"/>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7D97C441-30E9-455E-B211-B3A4B22FBBC8}"/>
              </a:ext>
            </a:extLst>
          </p:cNvPr>
          <p:cNvSpPr>
            <a:spLocks xmlns:a="http://schemas.openxmlformats.org/drawingml/2006/main" noGrp="1"/>
          </p:cNvSpPr>
          <p:nvPr/>
        </p:nvSpPr>
        <p:spPr>
          <a:xfrm xmlns:a="http://schemas.openxmlformats.org/drawingml/2006/main">
            <a:off x="609600" y="34004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D2E28"/>
                </a:solidFill>
                <a:latin typeface="Arial"/>
                <a:ea typeface="Arial"/>
                <a:cs typeface="Arial"/>
              </a:defRPr>
            </a:pPr>
            <a:r>
              <a:rPr sz="2325" b="1">
                <a:solidFill>
                  <a:srgbClr val="1D2E28"/>
                </a:solidFill>
                <a:latin typeface="Arial"/>
                <a:ea typeface="Arial"/>
                <a:cs typeface="Arial"/>
              </a:rPr>
              <a:t>Validate</a:t>
            </a:r>
          </a:p>
        </p:txBody>
      </p:sp>
      <p:sp>
        <p:nvSpPr>
          <p:cNvPr id="5" name="">
            <a:extLst xmlns:a="http://schemas.openxmlformats.org/drawingml/2006/main">
              <a:ext uri="{FF2B5EF4-FFF2-40B4-BE49-F238E27FC236}">
                <a16:creationId xmlns:a16="http://schemas.microsoft.com/office/drawing/2014/main" id="{C5DE2291-01E0-4731-9E94-68366DDF9DF5}"/>
              </a:ext>
            </a:extLst>
          </p:cNvPr>
          <p:cNvSpPr>
            <a:spLocks xmlns:a="http://schemas.openxmlformats.org/drawingml/2006/main" noGrp="1"/>
          </p:cNvSpPr>
          <p:nvPr/>
        </p:nvSpPr>
        <p:spPr>
          <a:xfrm xmlns:a="http://schemas.openxmlformats.org/drawingml/2006/main">
            <a:off x="609600" y="4105275"/>
            <a:ext cx="24193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D2E28"/>
                </a:solidFill>
                <a:latin typeface="Arial"/>
                <a:ea typeface="Arial"/>
                <a:cs typeface="Arial"/>
              </a:defRPr>
            </a:pPr>
            <a:r>
              <a:rPr sz="1725" b="0">
                <a:solidFill>
                  <a:srgbClr val="1D2E28"/>
                </a:solidFill>
                <a:latin typeface="Arial"/>
                <a:ea typeface="Arial"/>
                <a:cs typeface="Arial"/>
              </a:rPr>
              <a:t>Measure accuracy</a:t>
            </a:r>
          </a:p>
          <a:p xmlns:a="http://schemas.openxmlformats.org/drawingml/2006/main">
            <a:pPr>
              <a:defRPr sz="1725" b="0">
                <a:solidFill>
                  <a:srgbClr val="1D2E28"/>
                </a:solidFill>
                <a:latin typeface="Arial"/>
                <a:ea typeface="Arial"/>
                <a:cs typeface="Arial"/>
              </a:defRPr>
            </a:pPr>
            <a:r>
              <a:rPr sz="1725" b="0">
                <a:solidFill>
                  <a:srgbClr val="1D2E28"/>
                </a:solidFill>
                <a:latin typeface="Arial"/>
                <a:ea typeface="Arial"/>
                <a:cs typeface="Arial"/>
              </a:rPr>
              <a:t>and unassigned views</a:t>
            </a:r>
          </a:p>
          <a:p xmlns:a="http://schemas.openxmlformats.org/drawingml/2006/main">
            <a:pPr>
              <a:defRPr sz="1725" b="0">
                <a:solidFill>
                  <a:srgbClr val="1D2E28"/>
                </a:solidFill>
                <a:latin typeface="Arial"/>
                <a:ea typeface="Arial"/>
                <a:cs typeface="Arial"/>
              </a:defRPr>
            </a:pPr>
            <a:r>
              <a:rPr sz="1725" b="0">
                <a:solidFill>
                  <a:srgbClr val="1D2E28"/>
                </a:solidFill>
                <a:latin typeface="Arial"/>
                <a:ea typeface="Arial"/>
                <a:cs typeface="Arial"/>
              </a:rPr>
              <a:t>at known shelf targets.</a:t>
            </a:r>
          </a:p>
        </p:txBody>
      </p:sp>
      <p:sp>
        <p:nvSpPr>
          <p:cNvPr id="6" name="">
            <a:extLst xmlns:a="http://schemas.openxmlformats.org/drawingml/2006/main">
              <a:ext uri="{FF2B5EF4-FFF2-40B4-BE49-F238E27FC236}">
                <a16:creationId xmlns:a16="http://schemas.microsoft.com/office/drawing/2014/main" id="{1665A00D-8455-41F4-9A7A-230C6B230BD2}"/>
              </a:ext>
            </a:extLst>
          </p:cNvPr>
          <p:cNvSpPr>
            <a:spLocks xmlns:a="http://schemas.openxmlformats.org/drawingml/2006/main" noGrp="1"/>
          </p:cNvSpPr>
          <p:nvPr/>
        </p:nvSpPr>
        <p:spPr>
          <a:xfrm xmlns:a="http://schemas.openxmlformats.org/drawingml/2006/main">
            <a:off x="3409950" y="2476500"/>
            <a:ext cx="247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3F6953"/>
                </a:solidFill>
                <a:latin typeface="Arial"/>
                <a:ea typeface="Arial"/>
                <a:cs typeface="Arial"/>
              </a:defRPr>
            </a:pPr>
            <a:r>
              <a:rPr sz="4800" b="1">
                <a:solidFill>
                  <a:srgbClr val="3F6953"/>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0A2B39AD-B101-4B92-9F91-D699030CBB92}"/>
              </a:ext>
            </a:extLst>
          </p:cNvPr>
          <p:cNvSpPr>
            <a:spLocks xmlns:a="http://schemas.openxmlformats.org/drawingml/2006/main" noGrp="1"/>
          </p:cNvSpPr>
          <p:nvPr/>
        </p:nvSpPr>
        <p:spPr>
          <a:xfrm xmlns:a="http://schemas.openxmlformats.org/drawingml/2006/main">
            <a:off x="3409950" y="34004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D2E28"/>
                </a:solidFill>
                <a:latin typeface="Arial"/>
                <a:ea typeface="Arial"/>
                <a:cs typeface="Arial"/>
              </a:defRPr>
            </a:pPr>
            <a:r>
              <a:rPr sz="2325" b="1">
                <a:solidFill>
                  <a:srgbClr val="1D2E28"/>
                </a:solidFill>
                <a:latin typeface="Arial"/>
                <a:ea typeface="Arial"/>
                <a:cs typeface="Arial"/>
              </a:rPr>
              <a:t>Record</a:t>
            </a:r>
          </a:p>
        </p:txBody>
      </p:sp>
      <p:sp>
        <p:nvSpPr>
          <p:cNvPr id="8" name="">
            <a:extLst xmlns:a="http://schemas.openxmlformats.org/drawingml/2006/main">
              <a:ext uri="{FF2B5EF4-FFF2-40B4-BE49-F238E27FC236}">
                <a16:creationId xmlns:a16="http://schemas.microsoft.com/office/drawing/2014/main" id="{2EE38239-1361-404C-9371-23B2A6CAD869}"/>
              </a:ext>
            </a:extLst>
          </p:cNvPr>
          <p:cNvSpPr>
            <a:spLocks xmlns:a="http://schemas.openxmlformats.org/drawingml/2006/main" noGrp="1"/>
          </p:cNvSpPr>
          <p:nvPr/>
        </p:nvSpPr>
        <p:spPr>
          <a:xfrm xmlns:a="http://schemas.openxmlformats.org/drawingml/2006/main">
            <a:off x="3409950" y="4105275"/>
            <a:ext cx="24193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D2E28"/>
                </a:solidFill>
                <a:latin typeface="Arial"/>
                <a:ea typeface="Arial"/>
                <a:cs typeface="Arial"/>
              </a:defRPr>
            </a:pPr>
            <a:r>
              <a:rPr sz="1725" b="0">
                <a:solidFill>
                  <a:srgbClr val="1D2E28"/>
                </a:solidFill>
                <a:latin typeface="Arial"/>
                <a:ea typeface="Arial"/>
                <a:cs typeface="Arial"/>
              </a:rPr>
              <a:t>Save daily aggregates.</a:t>
            </a:r>
          </a:p>
          <a:p xmlns:a="http://schemas.openxmlformats.org/drawingml/2006/main">
            <a:pPr>
              <a:defRPr sz="1725" b="0">
                <a:solidFill>
                  <a:srgbClr val="1D2E28"/>
                </a:solidFill>
                <a:latin typeface="Arial"/>
                <a:ea typeface="Arial"/>
                <a:cs typeface="Arial"/>
              </a:defRPr>
            </a:pPr>
            <a:r>
              <a:rPr sz="1725" b="0">
                <a:solidFill>
                  <a:srgbClr val="1D2E28"/>
                </a:solidFill>
                <a:latin typeface="Arial"/>
                <a:ea typeface="Arial"/>
                <a:cs typeface="Arial"/>
              </a:rPr>
              <a:t>Log shelf changes</a:t>
            </a:r>
          </a:p>
          <a:p xmlns:a="http://schemas.openxmlformats.org/drawingml/2006/main">
            <a:pPr>
              <a:defRPr sz="1725" b="0">
                <a:solidFill>
                  <a:srgbClr val="1D2E28"/>
                </a:solidFill>
                <a:latin typeface="Arial"/>
                <a:ea typeface="Arial"/>
                <a:cs typeface="Arial"/>
              </a:defRPr>
            </a:pPr>
            <a:r>
              <a:rPr sz="1725" b="0">
                <a:solidFill>
                  <a:srgbClr val="1D2E28"/>
                </a:solidFill>
                <a:latin typeface="Arial"/>
                <a:ea typeface="Arial"/>
                <a:cs typeface="Arial"/>
              </a:rPr>
              <a:t>and displayed offers.</a:t>
            </a:r>
          </a:p>
        </p:txBody>
      </p:sp>
      <p:sp>
        <p:nvSpPr>
          <p:cNvPr id="9" name="">
            <a:extLst xmlns:a="http://schemas.openxmlformats.org/drawingml/2006/main">
              <a:ext uri="{FF2B5EF4-FFF2-40B4-BE49-F238E27FC236}">
                <a16:creationId xmlns:a16="http://schemas.microsoft.com/office/drawing/2014/main" id="{371C894F-75C9-4C00-93C6-CC39A9E77170}"/>
              </a:ext>
            </a:extLst>
          </p:cNvPr>
          <p:cNvSpPr>
            <a:spLocks xmlns:a="http://schemas.openxmlformats.org/drawingml/2006/main" noGrp="1"/>
          </p:cNvSpPr>
          <p:nvPr/>
        </p:nvSpPr>
        <p:spPr>
          <a:xfrm xmlns:a="http://schemas.openxmlformats.org/drawingml/2006/main">
            <a:off x="6210300" y="2476500"/>
            <a:ext cx="247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3F6953"/>
                </a:solidFill>
                <a:latin typeface="Arial"/>
                <a:ea typeface="Arial"/>
                <a:cs typeface="Arial"/>
              </a:defRPr>
            </a:pPr>
            <a:r>
              <a:rPr sz="4800" b="1">
                <a:solidFill>
                  <a:srgbClr val="3F695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886EB6C2-8657-4CD6-8457-285E4F330D60}"/>
              </a:ext>
            </a:extLst>
          </p:cNvPr>
          <p:cNvSpPr>
            <a:spLocks xmlns:a="http://schemas.openxmlformats.org/drawingml/2006/main" noGrp="1"/>
          </p:cNvSpPr>
          <p:nvPr/>
        </p:nvSpPr>
        <p:spPr>
          <a:xfrm xmlns:a="http://schemas.openxmlformats.org/drawingml/2006/main">
            <a:off x="6210300" y="34004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D2E28"/>
                </a:solidFill>
                <a:latin typeface="Arial"/>
                <a:ea typeface="Arial"/>
                <a:cs typeface="Arial"/>
              </a:defRPr>
            </a:pPr>
            <a:r>
              <a:rPr sz="2325" b="1">
                <a:solidFill>
                  <a:srgbClr val="1D2E28"/>
                </a:solidFill>
                <a:latin typeface="Arial"/>
                <a:ea typeface="Arial"/>
                <a:cs typeface="Arial"/>
              </a:rPr>
              <a:t>Compare</a:t>
            </a:r>
          </a:p>
        </p:txBody>
      </p:sp>
      <p:sp>
        <p:nvSpPr>
          <p:cNvPr id="11" name="">
            <a:extLst xmlns:a="http://schemas.openxmlformats.org/drawingml/2006/main">
              <a:ext uri="{FF2B5EF4-FFF2-40B4-BE49-F238E27FC236}">
                <a16:creationId xmlns:a16="http://schemas.microsoft.com/office/drawing/2014/main" id="{B823CA63-74C3-476C-B247-92B322CEA3BB}"/>
              </a:ext>
            </a:extLst>
          </p:cNvPr>
          <p:cNvSpPr>
            <a:spLocks xmlns:a="http://schemas.openxmlformats.org/drawingml/2006/main" noGrp="1"/>
          </p:cNvSpPr>
          <p:nvPr/>
        </p:nvSpPr>
        <p:spPr>
          <a:xfrm xmlns:a="http://schemas.openxmlformats.org/drawingml/2006/main">
            <a:off x="6210300" y="4105275"/>
            <a:ext cx="24193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D2E28"/>
                </a:solidFill>
                <a:latin typeface="Arial"/>
                <a:ea typeface="Arial"/>
                <a:cs typeface="Arial"/>
              </a:defRPr>
            </a:pPr>
            <a:r>
              <a:rPr sz="1725" b="0">
                <a:solidFill>
                  <a:srgbClr val="1D2E28"/>
                </a:solidFill>
                <a:latin typeface="Arial"/>
                <a:ea typeface="Arial"/>
                <a:cs typeface="Arial"/>
              </a:rPr>
              <a:t>Add UK search interest</a:t>
            </a:r>
          </a:p>
          <a:p xmlns:a="http://schemas.openxmlformats.org/drawingml/2006/main">
            <a:pPr>
              <a:defRPr sz="1725" b="0">
                <a:solidFill>
                  <a:srgbClr val="1D2E28"/>
                </a:solidFill>
                <a:latin typeface="Arial"/>
                <a:ea typeface="Arial"/>
                <a:cs typeface="Arial"/>
              </a:defRPr>
            </a:pPr>
            <a:r>
              <a:rPr sz="1725" b="0">
                <a:solidFill>
                  <a:srgbClr val="1D2E28"/>
                </a:solidFill>
                <a:latin typeface="Arial"/>
                <a:ea typeface="Arial"/>
                <a:cs typeface="Arial"/>
              </a:rPr>
              <a:t>and retailer sales</a:t>
            </a:r>
          </a:p>
          <a:p xmlns:a="http://schemas.openxmlformats.org/drawingml/2006/main">
            <a:pPr>
              <a:defRPr sz="1725" b="0">
                <a:solidFill>
                  <a:srgbClr val="1D2E28"/>
                </a:solidFill>
                <a:latin typeface="Arial"/>
                <a:ea typeface="Arial"/>
                <a:cs typeface="Arial"/>
              </a:defRPr>
            </a:pPr>
            <a:r>
              <a:rPr sz="1725" b="0">
                <a:solidFill>
                  <a:srgbClr val="1D2E28"/>
                </a:solidFill>
                <a:latin typeface="Arial"/>
                <a:ea typeface="Arial"/>
                <a:cs typeface="Arial"/>
              </a:rPr>
              <a:t>when available.</a:t>
            </a:r>
          </a:p>
        </p:txBody>
      </p:sp>
      <p:sp>
        <p:nvSpPr>
          <p:cNvPr id="12" name="">
            <a:extLst xmlns:a="http://schemas.openxmlformats.org/drawingml/2006/main">
              <a:ext uri="{FF2B5EF4-FFF2-40B4-BE49-F238E27FC236}">
                <a16:creationId xmlns:a16="http://schemas.microsoft.com/office/drawing/2014/main" id="{A35D3AAE-3B88-40C3-A715-F4E2CA7C8B04}"/>
              </a:ext>
            </a:extLst>
          </p:cNvPr>
          <p:cNvSpPr>
            <a:spLocks xmlns:a="http://schemas.openxmlformats.org/drawingml/2006/main" noGrp="1"/>
          </p:cNvSpPr>
          <p:nvPr/>
        </p:nvSpPr>
        <p:spPr>
          <a:xfrm xmlns:a="http://schemas.openxmlformats.org/drawingml/2006/main">
            <a:off x="9010650" y="2476500"/>
            <a:ext cx="247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3F6953"/>
                </a:solidFill>
                <a:latin typeface="Arial"/>
                <a:ea typeface="Arial"/>
                <a:cs typeface="Arial"/>
              </a:defRPr>
            </a:pPr>
            <a:r>
              <a:rPr sz="4800" b="1">
                <a:solidFill>
                  <a:srgbClr val="3F6953"/>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062523A7-62D8-478F-A542-80363B3257F9}"/>
              </a:ext>
            </a:extLst>
          </p:cNvPr>
          <p:cNvSpPr>
            <a:spLocks xmlns:a="http://schemas.openxmlformats.org/drawingml/2006/main" noGrp="1"/>
          </p:cNvSpPr>
          <p:nvPr/>
        </p:nvSpPr>
        <p:spPr>
          <a:xfrm xmlns:a="http://schemas.openxmlformats.org/drawingml/2006/main">
            <a:off x="9010650" y="3400425"/>
            <a:ext cx="247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D2E28"/>
                </a:solidFill>
                <a:latin typeface="Arial"/>
                <a:ea typeface="Arial"/>
                <a:cs typeface="Arial"/>
              </a:defRPr>
            </a:pPr>
            <a:r>
              <a:rPr sz="2325" b="1">
                <a:solidFill>
                  <a:srgbClr val="1D2E28"/>
                </a:solidFill>
                <a:latin typeface="Arial"/>
                <a:ea typeface="Arial"/>
                <a:cs typeface="Arial"/>
              </a:rPr>
              <a:t>Evaluate</a:t>
            </a:r>
          </a:p>
        </p:txBody>
      </p:sp>
      <p:sp>
        <p:nvSpPr>
          <p:cNvPr id="14" name="">
            <a:extLst xmlns:a="http://schemas.openxmlformats.org/drawingml/2006/main">
              <a:ext uri="{FF2B5EF4-FFF2-40B4-BE49-F238E27FC236}">
                <a16:creationId xmlns:a16="http://schemas.microsoft.com/office/drawing/2014/main" id="{B475F93D-6590-4A90-87B3-1E1F814DA5F5}"/>
              </a:ext>
            </a:extLst>
          </p:cNvPr>
          <p:cNvSpPr>
            <a:spLocks xmlns:a="http://schemas.openxmlformats.org/drawingml/2006/main" noGrp="1"/>
          </p:cNvSpPr>
          <p:nvPr/>
        </p:nvSpPr>
        <p:spPr>
          <a:xfrm xmlns:a="http://schemas.openxmlformats.org/drawingml/2006/main">
            <a:off x="9010650" y="4105275"/>
            <a:ext cx="24193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D2E28"/>
                </a:solidFill>
                <a:latin typeface="Arial"/>
                <a:ea typeface="Arial"/>
                <a:cs typeface="Arial"/>
              </a:defRPr>
            </a:pPr>
            <a:r>
              <a:rPr sz="1725" b="0">
                <a:solidFill>
                  <a:srgbClr val="1D2E28"/>
                </a:solidFill>
                <a:latin typeface="Arial"/>
                <a:ea typeface="Arial"/>
                <a:cs typeface="Arial"/>
              </a:rPr>
              <a:t>Test later periods</a:t>
            </a:r>
          </a:p>
          <a:p xmlns:a="http://schemas.openxmlformats.org/drawingml/2006/main">
            <a:pPr>
              <a:defRPr sz="1725" b="0">
                <a:solidFill>
                  <a:srgbClr val="1D2E28"/>
                </a:solidFill>
                <a:latin typeface="Arial"/>
                <a:ea typeface="Arial"/>
                <a:cs typeface="Arial"/>
              </a:defRPr>
            </a:pPr>
            <a:r>
              <a:rPr sz="1725" b="0">
                <a:solidFill>
                  <a:srgbClr val="1D2E28"/>
                </a:solidFill>
                <a:latin typeface="Arial"/>
                <a:ea typeface="Arial"/>
                <a:cs typeface="Arial"/>
              </a:rPr>
              <a:t>against a forecast</a:t>
            </a:r>
          </a:p>
          <a:p xmlns:a="http://schemas.openxmlformats.org/drawingml/2006/main">
            <a:pPr>
              <a:defRPr sz="1725" b="0">
                <a:solidFill>
                  <a:srgbClr val="1D2E28"/>
                </a:solidFill>
                <a:latin typeface="Arial"/>
                <a:ea typeface="Arial"/>
                <a:cs typeface="Arial"/>
              </a:defRPr>
            </a:pPr>
            <a:r>
              <a:rPr sz="1725" b="0">
                <a:solidFill>
                  <a:srgbClr val="1D2E28"/>
                </a:solidFill>
                <a:latin typeface="Arial"/>
                <a:ea typeface="Arial"/>
                <a:cs typeface="Arial"/>
              </a:rPr>
              <a:t>using last week’s value.</a:t>
            </a:r>
          </a:p>
        </p:txBody>
      </p:sp>
      <p:sp>
        <p:nvSpPr>
          <p:cNvPr id="15" name="">
            <a:extLst xmlns:a="http://schemas.openxmlformats.org/drawingml/2006/main">
              <a:ext uri="{FF2B5EF4-FFF2-40B4-BE49-F238E27FC236}">
                <a16:creationId xmlns:a16="http://schemas.microsoft.com/office/drawing/2014/main" id="{50082197-9EE7-46F1-9DA7-6D192B7A46F9}"/>
              </a:ext>
            </a:extLst>
          </p:cNvPr>
          <p:cNvSpPr>
            <a:spLocks xmlns:a="http://schemas.openxmlformats.org/drawingml/2006/main" noGrp="1"/>
          </p:cNvSpPr>
          <p:nvPr/>
        </p:nvSpPr>
        <p:spPr>
          <a:xfrm xmlns:a="http://schemas.openxmlformats.org/drawingml/2006/main">
            <a:off x="609600" y="60960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359"/>
                </a:solidFill>
                <a:latin typeface="Arial"/>
                <a:ea typeface="Arial"/>
                <a:cs typeface="Arial"/>
              </a:defRPr>
            </a:pPr>
            <a:r>
              <a:rPr sz="1725" b="0">
                <a:solidFill>
                  <a:srgbClr val="536359"/>
                </a:solidFill>
                <a:latin typeface="Arial"/>
                <a:ea typeface="Arial"/>
                <a:cs typeface="Arial"/>
              </a:rPr>
              <a:t>Future work. Forecasting, saved history and external data connections are not implemented.</a:t>
            </a:r>
          </a:p>
        </p:txBody>
      </p:sp>
    </p:spTree>
    <p:extLst>
      <p:ext uri="{BB962C8B-B14F-4D97-AF65-F5344CB8AC3E}">
        <p14:creationId xmlns:p14="http://schemas.microsoft.com/office/powerpoint/2010/main" val="285200035"/>
      </p:ext>
    </p:extLst>
  </p:cSld>
</p:sld>
</file>

<file path=ppt/slides/slide8.xml><?xml version="1.0" encoding="utf-8"?>
<p:sld xmlns:p="http://schemas.openxmlformats.org/presentationml/2006/main">
  <p:cSld>
    <p:bg>
      <p:bgPr>
        <a:solidFill xmlns:a="http://schemas.openxmlformats.org/drawingml/2006/main">
          <a:srgbClr val="172C2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17BBAC-37F2-49D7-B90C-8404426A0162}"/>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BFBF5"/>
                </a:solidFill>
                <a:latin typeface="Arial"/>
                <a:ea typeface="Arial"/>
                <a:cs typeface="Arial"/>
              </a:defRPr>
            </a:pPr>
            <a:r>
              <a:rPr sz="3300" b="1">
                <a:solidFill>
                  <a:srgbClr val="FBFBF5"/>
                </a:solidFill>
                <a:latin typeface="Arial"/>
                <a:ea typeface="Arial"/>
                <a:cs typeface="Arial"/>
              </a:rPr>
              <a:t>The next experiment</a:t>
            </a:r>
          </a:p>
        </p:txBody>
      </p:sp>
      <p:sp>
        <p:nvSpPr>
          <p:cNvPr id="2" name="">
            <a:extLst xmlns:a="http://schemas.openxmlformats.org/drawingml/2006/main">
              <a:ext uri="{FF2B5EF4-FFF2-40B4-BE49-F238E27FC236}">
                <a16:creationId xmlns:a16="http://schemas.microsoft.com/office/drawing/2014/main" id="{CE851AA8-E946-4EE1-8752-627EBD2AED5A}"/>
              </a:ext>
            </a:extLst>
          </p:cNvPr>
          <p:cNvSpPr>
            <a:spLocks xmlns:a="http://schemas.openxmlformats.org/drawingml/2006/main" noGrp="1"/>
          </p:cNvSpPr>
          <p:nvPr/>
        </p:nvSpPr>
        <p:spPr>
          <a:xfrm xmlns:a="http://schemas.openxmlformats.org/drawingml/2006/main">
            <a:off x="609600" y="1819275"/>
            <a:ext cx="5667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950" b="1">
                <a:solidFill>
                  <a:srgbClr val="FBFBF5"/>
                </a:solidFill>
                <a:latin typeface="Arial"/>
                <a:ea typeface="Arial"/>
                <a:cs typeface="Arial"/>
              </a:defRPr>
            </a:pPr>
            <a:r>
              <a:rPr sz="4950" b="1">
                <a:solidFill>
                  <a:srgbClr val="FBFBF5"/>
                </a:solidFill>
                <a:latin typeface="Arial"/>
                <a:ea typeface="Arial"/>
                <a:cs typeface="Arial"/>
              </a:rPr>
              <a:t>A labelled</a:t>
            </a:r>
          </a:p>
          <a:p xmlns:a="http://schemas.openxmlformats.org/drawingml/2006/main">
            <a:pPr>
              <a:defRPr sz="4950" b="1">
                <a:solidFill>
                  <a:srgbClr val="FBFBF5"/>
                </a:solidFill>
                <a:latin typeface="Arial"/>
                <a:ea typeface="Arial"/>
                <a:cs typeface="Arial"/>
              </a:defRPr>
            </a:pPr>
            <a:r>
              <a:rPr sz="4950" b="1">
                <a:solidFill>
                  <a:srgbClr val="FBFBF5"/>
                </a:solidFill>
                <a:latin typeface="Arial"/>
                <a:ea typeface="Arial"/>
                <a:cs typeface="Arial"/>
              </a:rPr>
              <a:t>shelf trial</a:t>
            </a:r>
          </a:p>
        </p:txBody>
      </p:sp>
      <p:sp>
        <p:nvSpPr>
          <p:cNvPr id="3" name="">
            <a:extLst xmlns:a="http://schemas.openxmlformats.org/drawingml/2006/main">
              <a:ext uri="{FF2B5EF4-FFF2-40B4-BE49-F238E27FC236}">
                <a16:creationId xmlns:a16="http://schemas.microsoft.com/office/drawing/2014/main" id="{F37DAD50-6DAC-41E4-AB12-76DD4C21A3E9}"/>
              </a:ext>
            </a:extLst>
          </p:cNvPr>
          <p:cNvSpPr>
            <a:spLocks xmlns:a="http://schemas.openxmlformats.org/drawingml/2006/main" noGrp="1"/>
          </p:cNvSpPr>
          <p:nvPr/>
        </p:nvSpPr>
        <p:spPr>
          <a:xfrm xmlns:a="http://schemas.openxmlformats.org/drawingml/2006/main">
            <a:off x="647700" y="3886200"/>
            <a:ext cx="5962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CEDABF"/>
                </a:solidFill>
                <a:latin typeface="Arial"/>
                <a:ea typeface="Arial"/>
                <a:cs typeface="Arial"/>
              </a:defRPr>
            </a:pPr>
            <a:r>
              <a:rPr sz="2250" b="0">
                <a:solidFill>
                  <a:srgbClr val="CEDABF"/>
                </a:solidFill>
                <a:latin typeface="Arial"/>
                <a:ea typeface="Arial"/>
                <a:cs typeface="Arial"/>
              </a:rPr>
              <a:t>Test known gaze targets across distance,</a:t>
            </a:r>
          </a:p>
          <a:p xmlns:a="http://schemas.openxmlformats.org/drawingml/2006/main">
            <a:pPr>
              <a:defRPr sz="2250" b="0">
                <a:solidFill>
                  <a:srgbClr val="CEDABF"/>
                </a:solidFill>
                <a:latin typeface="Arial"/>
                <a:ea typeface="Arial"/>
                <a:cs typeface="Arial"/>
              </a:defRPr>
            </a:pPr>
            <a:r>
              <a:rPr sz="2250" b="0">
                <a:solidFill>
                  <a:srgbClr val="CEDABF"/>
                </a:solidFill>
                <a:latin typeface="Arial"/>
                <a:ea typeface="Arial"/>
                <a:cs typeface="Arial"/>
              </a:rPr>
              <a:t>lighting, glasses and occlusion.</a:t>
            </a:r>
          </a:p>
        </p:txBody>
      </p:sp>
      <p:sp>
        <p:nvSpPr>
          <p:cNvPr id="4" name="">
            <a:extLst xmlns:a="http://schemas.openxmlformats.org/drawingml/2006/main">
              <a:ext uri="{FF2B5EF4-FFF2-40B4-BE49-F238E27FC236}">
                <a16:creationId xmlns:a16="http://schemas.microsoft.com/office/drawing/2014/main" id="{169447D2-D8EA-4B9B-A0D1-505557B4CC01}"/>
              </a:ext>
            </a:extLst>
          </p:cNvPr>
          <p:cNvSpPr>
            <a:spLocks xmlns:a="http://schemas.openxmlformats.org/drawingml/2006/main" noGrp="1"/>
          </p:cNvSpPr>
          <p:nvPr/>
        </p:nvSpPr>
        <p:spPr>
          <a:xfrm xmlns:a="http://schemas.openxmlformats.org/drawingml/2006/main">
            <a:off x="647700" y="5238750"/>
            <a:ext cx="6019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BFBF5"/>
                </a:solidFill>
                <a:latin typeface="Arial"/>
                <a:ea typeface="Arial"/>
                <a:cs typeface="Arial"/>
              </a:defRPr>
            </a:pPr>
            <a:r>
              <a:rPr sz="2100" b="0">
                <a:solidFill>
                  <a:srgbClr val="FBFBF5"/>
                </a:solidFill>
                <a:latin typeface="Arial"/>
                <a:ea typeface="Arial"/>
                <a:cs typeface="Arial"/>
              </a:rPr>
              <a:t>Report zone accuracy and unassigned</a:t>
            </a:r>
          </a:p>
          <a:p xmlns:a="http://schemas.openxmlformats.org/drawingml/2006/main">
            <a:pPr>
              <a:defRPr sz="2100" b="0">
                <a:solidFill>
                  <a:srgbClr val="FBFBF5"/>
                </a:solidFill>
                <a:latin typeface="Arial"/>
                <a:ea typeface="Arial"/>
                <a:cs typeface="Arial"/>
              </a:defRPr>
            </a:pPr>
            <a:r>
              <a:rPr sz="2100" b="0">
                <a:solidFill>
                  <a:srgbClr val="FBFBF5"/>
                </a:solidFill>
                <a:latin typeface="Arial"/>
                <a:ea typeface="Arial"/>
                <a:cs typeface="Arial"/>
              </a:rPr>
              <a:t>observations before testing a forecast.</a:t>
            </a:r>
          </a:p>
        </p:txBody>
      </p:sp>
      <p:sp>
        <p:nvSpPr>
          <p:cNvPr id="5" name="">
            <a:extLst xmlns:a="http://schemas.openxmlformats.org/drawingml/2006/main">
              <a:ext uri="{FF2B5EF4-FFF2-40B4-BE49-F238E27FC236}">
                <a16:creationId xmlns:a16="http://schemas.microsoft.com/office/drawing/2014/main" id="{9E87DA96-32F0-421A-94CF-D35D4E11BDAB}"/>
              </a:ext>
            </a:extLst>
          </p:cNvPr>
          <p:cNvSpPr>
            <a:spLocks xmlns:a="http://schemas.openxmlformats.org/drawingml/2006/main" noGrp="1"/>
          </p:cNvSpPr>
          <p:nvPr/>
        </p:nvSpPr>
        <p:spPr>
          <a:xfrm xmlns:a="http://schemas.openxmlformats.org/drawingml/2006/main">
            <a:off x="8058150" y="1895475"/>
            <a:ext cx="3476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CEDABF"/>
                </a:solidFill>
                <a:latin typeface="Arial"/>
                <a:ea typeface="Arial"/>
                <a:cs typeface="Arial"/>
              </a:defRPr>
            </a:pPr>
            <a:r>
              <a:rPr sz="2400" b="1">
                <a:solidFill>
                  <a:srgbClr val="CEDABF"/>
                </a:solidFill>
                <a:latin typeface="Arial"/>
                <a:ea typeface="Arial"/>
                <a:cs typeface="Arial"/>
              </a:rPr>
              <a:t>Explore Trace</a:t>
            </a:r>
          </a:p>
        </p:txBody>
      </p:sp>
      <p:sp>
        <p:nvSpPr>
          <p:cNvPr id="6" name="">
            <a:extLst xmlns:a="http://schemas.openxmlformats.org/drawingml/2006/main">
              <a:ext uri="{FF2B5EF4-FFF2-40B4-BE49-F238E27FC236}">
                <a16:creationId xmlns:a16="http://schemas.microsoft.com/office/drawing/2014/main" id="{90CC830B-A454-49C5-92F2-480F56C3C970}"/>
              </a:ext>
            </a:extLst>
          </p:cNvPr>
          <p:cNvSpPr>
            <a:spLocks xmlns:a="http://schemas.openxmlformats.org/drawingml/2006/main" noGrp="1"/>
          </p:cNvSpPr>
          <p:nvPr/>
        </p:nvSpPr>
        <p:spPr>
          <a:xfrm xmlns:a="http://schemas.openxmlformats.org/drawingml/2006/main">
            <a:off x="8058150" y="2924175"/>
            <a:ext cx="3457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FBFBF5"/>
                </a:solidFill>
                <a:latin typeface="Arial"/>
                <a:ea typeface="Arial"/>
                <a:cs typeface="Arial"/>
              </a:defRPr>
            </a:pPr>
            <a:r>
              <a:rPr sz="2100" b="1">
                <a:solidFill>
                  <a:srgbClr val="FBFBF5"/>
                </a:solidFill>
                <a:latin typeface="Arial"/>
                <a:ea typeface="Arial"/>
                <a:cs typeface="Arial"/>
                <a:hlinkClick xmlns:r="http://schemas.openxmlformats.org/officeDocument/2006/relationships" r:id="R4c2912dd516f473e"/>
              </a:rPr>
              <a:t>Public repository</a:t>
            </a:r>
          </a:p>
        </p:txBody>
      </p:sp>
      <p:sp>
        <p:nvSpPr>
          <p:cNvPr id="7" name="">
            <a:extLst xmlns:a="http://schemas.openxmlformats.org/drawingml/2006/main">
              <a:ext uri="{FF2B5EF4-FFF2-40B4-BE49-F238E27FC236}">
                <a16:creationId xmlns:a16="http://schemas.microsoft.com/office/drawing/2014/main" id="{795A83B8-F00E-444A-9792-83A180FE115A}"/>
              </a:ext>
            </a:extLst>
          </p:cNvPr>
          <p:cNvSpPr>
            <a:spLocks xmlns:a="http://schemas.openxmlformats.org/drawingml/2006/main" noGrp="1"/>
          </p:cNvSpPr>
          <p:nvPr/>
        </p:nvSpPr>
        <p:spPr>
          <a:xfrm xmlns:a="http://schemas.openxmlformats.org/drawingml/2006/main">
            <a:off x="8058150" y="3724275"/>
            <a:ext cx="350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FBFBF5"/>
                </a:solidFill>
                <a:latin typeface="Arial"/>
                <a:ea typeface="Arial"/>
                <a:cs typeface="Arial"/>
              </a:defRPr>
            </a:pPr>
            <a:r>
              <a:rPr sz="2025" b="1">
                <a:solidFill>
                  <a:srgbClr val="FBFBF5"/>
                </a:solidFill>
                <a:latin typeface="Arial"/>
                <a:ea typeface="Arial"/>
                <a:cs typeface="Arial"/>
                <a:hlinkClick xmlns:r="http://schemas.openxmlformats.org/officeDocument/2006/relationships" r:id="R20218aa7c9ab4657"/>
              </a:rPr>
              <a:t>Interactive system map</a:t>
            </a:r>
          </a:p>
        </p:txBody>
      </p:sp>
      <p:sp>
        <p:nvSpPr>
          <p:cNvPr id="8" name="">
            <a:extLst xmlns:a="http://schemas.openxmlformats.org/drawingml/2006/main">
              <a:ext uri="{FF2B5EF4-FFF2-40B4-BE49-F238E27FC236}">
                <a16:creationId xmlns:a16="http://schemas.microsoft.com/office/drawing/2014/main" id="{E77F525F-A84B-4CDF-AEF1-31E2D2EBF53D}"/>
              </a:ext>
            </a:extLst>
          </p:cNvPr>
          <p:cNvSpPr>
            <a:spLocks xmlns:a="http://schemas.openxmlformats.org/drawingml/2006/main" noGrp="1"/>
          </p:cNvSpPr>
          <p:nvPr/>
        </p:nvSpPr>
        <p:spPr>
          <a:xfrm xmlns:a="http://schemas.openxmlformats.org/drawingml/2006/main">
            <a:off x="8058150" y="5286375"/>
            <a:ext cx="3505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CEDABF"/>
                </a:solidFill>
                <a:latin typeface="Arial"/>
                <a:ea typeface="Arial"/>
                <a:cs typeface="Arial"/>
              </a:defRPr>
            </a:pPr>
            <a:r>
              <a:rPr sz="1875" b="0">
                <a:solidFill>
                  <a:srgbClr val="CEDABF"/>
                </a:solidFill>
                <a:latin typeface="Arial"/>
                <a:ea typeface="Arial"/>
                <a:cs typeface="Arial"/>
              </a:rPr>
              <a:t>Local prototype</a:t>
            </a:r>
          </a:p>
          <a:p xmlns:a="http://schemas.openxmlformats.org/drawingml/2006/main">
            <a:pPr>
              <a:defRPr sz="1875" b="0">
                <a:solidFill>
                  <a:srgbClr val="CEDABF"/>
                </a:solidFill>
                <a:latin typeface="Arial"/>
                <a:ea typeface="Arial"/>
                <a:cs typeface="Arial"/>
              </a:defRPr>
            </a:pPr>
            <a:r>
              <a:rPr sz="1875" b="0">
                <a:solidFill>
                  <a:srgbClr val="CEDABF"/>
                </a:solidFill>
                <a:latin typeface="Arial"/>
                <a:ea typeface="Arial"/>
                <a:cs typeface="Arial"/>
              </a:rPr>
              <a:t>EAT_HACK Retail Futures</a:t>
            </a:r>
          </a:p>
        </p:txBody>
      </p:sp>
    </p:spTree>
    <p:extLst>
      <p:ext uri="{BB962C8B-B14F-4D97-AF65-F5344CB8AC3E}">
        <p14:creationId xmlns:p14="http://schemas.microsoft.com/office/powerpoint/2010/main" val="2685248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2026-10-03T13:18:53.2160000Z</dcterms:created>
  <dcterms:modified xsi:type="dcterms:W3CDTF">2026-10-03T13:18:53.2160000Z</dcterms:modified>
</coreProperties>
</file>